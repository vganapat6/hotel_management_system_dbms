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6858000" cx="12191675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fa8d1a0c5a_3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3fa8d1a0c5a_3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" name="Google Shape;340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2" name="Google Shape;432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3" name="Google Shape;483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2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4" name="Google Shape;514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3" name="Google Shape;543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9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1" name="Google Shape;571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4" name="Shape 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5" name="Google Shape;605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6" name="Google Shape;606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41F2B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jp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72200" y="0"/>
            <a:ext cx="601949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/>
          <p:nvPr/>
        </p:nvSpPr>
        <p:spPr>
          <a:xfrm>
            <a:off x="6108192" y="0"/>
            <a:ext cx="73152" cy="6858000"/>
          </a:xfrm>
          <a:prstGeom prst="rect">
            <a:avLst/>
          </a:prstGeom>
          <a:solidFill>
            <a:srgbClr val="141F2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3"/>
          <p:cNvSpPr/>
          <p:nvPr/>
        </p:nvSpPr>
        <p:spPr>
          <a:xfrm>
            <a:off x="658368" y="502920"/>
            <a:ext cx="1097280" cy="54864"/>
          </a:xfrm>
          <a:prstGeom prst="rect">
            <a:avLst/>
          </a:prstGeom>
          <a:solidFill>
            <a:srgbClr val="CD9D48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3"/>
          <p:cNvSpPr txBox="1"/>
          <p:nvPr/>
        </p:nvSpPr>
        <p:spPr>
          <a:xfrm>
            <a:off x="676656" y="658368"/>
            <a:ext cx="43890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CD9D48"/>
                </a:solidFill>
                <a:latin typeface="Arial"/>
                <a:ea typeface="Arial"/>
                <a:cs typeface="Arial"/>
                <a:sym typeface="Arial"/>
              </a:rPr>
              <a:t>DATAB</a:t>
            </a:r>
            <a:r>
              <a:rPr b="1" lang="en-US" sz="900">
                <a:solidFill>
                  <a:srgbClr val="CD9D48"/>
                </a:solidFill>
              </a:rPr>
              <a:t>A</a:t>
            </a:r>
            <a:r>
              <a:rPr b="1" i="0" lang="en-US" sz="900" u="none" cap="none" strike="noStrike">
                <a:solidFill>
                  <a:srgbClr val="CD9D48"/>
                </a:solidFill>
                <a:latin typeface="Arial"/>
                <a:ea typeface="Arial"/>
                <a:cs typeface="Arial"/>
                <a:sym typeface="Arial"/>
              </a:rPr>
              <a:t>SE MANAGEMENT SYSTEMS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676656" y="1115568"/>
            <a:ext cx="4937760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HOTEL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676656" y="1618488"/>
            <a:ext cx="4937760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MANAGEMENT</a:t>
            </a:r>
            <a:endParaRPr/>
          </a:p>
        </p:txBody>
      </p:sp>
      <p:sp>
        <p:nvSpPr>
          <p:cNvPr id="90" name="Google Shape;90;p13"/>
          <p:cNvSpPr txBox="1"/>
          <p:nvPr/>
        </p:nvSpPr>
        <p:spPr>
          <a:xfrm>
            <a:off x="676656" y="2103120"/>
            <a:ext cx="4937760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SYSTEM</a:t>
            </a:r>
            <a:endParaRPr/>
          </a:p>
        </p:txBody>
      </p:sp>
      <p:sp>
        <p:nvSpPr>
          <p:cNvPr id="91" name="Google Shape;91;p13"/>
          <p:cNvSpPr txBox="1"/>
          <p:nvPr/>
        </p:nvSpPr>
        <p:spPr>
          <a:xfrm>
            <a:off x="676656" y="3154680"/>
            <a:ext cx="4983480" cy="7498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D3DEDB"/>
                </a:solidFill>
                <a:latin typeface="Arial"/>
                <a:ea typeface="Arial"/>
                <a:cs typeface="Arial"/>
                <a:sym typeface="Arial"/>
              </a:rPr>
              <a:t>A robust relational model for bookings,</a:t>
            </a:r>
            <a:br>
              <a:rPr b="0" i="0" lang="en-US" sz="1550" u="none" cap="none" strike="noStrike">
                <a:solidFill>
                  <a:srgbClr val="D3DEDB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550" u="none" cap="none" strike="noStrike">
                <a:solidFill>
                  <a:srgbClr val="D3DEDB"/>
                </a:solidFill>
                <a:latin typeface="Arial"/>
                <a:ea typeface="Arial"/>
                <a:cs typeface="Arial"/>
                <a:sym typeface="Arial"/>
              </a:rPr>
              <a:t>room inventory, payments &amp; auditing</a:t>
            </a:r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676656" y="3950208"/>
            <a:ext cx="50292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 u="none" cap="none" strike="noStrike">
                <a:solidFill>
                  <a:srgbClr val="B8C9C4"/>
                </a:solidFill>
                <a:latin typeface="Arial"/>
                <a:ea typeface="Arial"/>
                <a:cs typeface="Arial"/>
                <a:sym typeface="Arial"/>
              </a:rPr>
              <a:t>MySQL Project  •  DBMS Laboratory</a:t>
            </a:r>
            <a:endParaRPr/>
          </a:p>
        </p:txBody>
      </p:sp>
      <p:sp>
        <p:nvSpPr>
          <p:cNvPr id="93" name="Google Shape;93;p13"/>
          <p:cNvSpPr/>
          <p:nvPr/>
        </p:nvSpPr>
        <p:spPr>
          <a:xfrm>
            <a:off x="658368" y="4590288"/>
            <a:ext cx="5376672" cy="1298448"/>
          </a:xfrm>
          <a:prstGeom prst="roundRect">
            <a:avLst>
              <a:gd fmla="val 16667" name="adj"/>
            </a:avLst>
          </a:prstGeom>
          <a:solidFill>
            <a:srgbClr val="1D2F3B"/>
          </a:solidFill>
          <a:ln cap="flat" cmpd="sng" w="9525">
            <a:solidFill>
              <a:srgbClr val="3F525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3"/>
          <p:cNvSpPr txBox="1"/>
          <p:nvPr/>
        </p:nvSpPr>
        <p:spPr>
          <a:xfrm>
            <a:off x="896112" y="4800600"/>
            <a:ext cx="20116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CD9D48"/>
                </a:solidFill>
                <a:latin typeface="Arial"/>
                <a:ea typeface="Arial"/>
                <a:cs typeface="Arial"/>
                <a:sym typeface="Arial"/>
              </a:rPr>
              <a:t>PROJECT ALLOCATION</a:t>
            </a:r>
            <a:endParaRPr/>
          </a:p>
        </p:txBody>
      </p:sp>
      <p:sp>
        <p:nvSpPr>
          <p:cNvPr id="95" name="Google Shape;95;p13"/>
          <p:cNvSpPr txBox="1"/>
          <p:nvPr/>
        </p:nvSpPr>
        <p:spPr>
          <a:xfrm>
            <a:off x="896112" y="5102352"/>
            <a:ext cx="15087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TEAM 15</a:t>
            </a:r>
            <a:endParaRPr/>
          </a:p>
        </p:txBody>
      </p:sp>
      <p:sp>
        <p:nvSpPr>
          <p:cNvPr id="96" name="Google Shape;96;p13"/>
          <p:cNvSpPr txBox="1"/>
          <p:nvPr/>
        </p:nvSpPr>
        <p:spPr>
          <a:xfrm>
            <a:off x="2441448" y="5129784"/>
            <a:ext cx="1828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19" u="none" cap="none" strike="noStrike">
                <a:solidFill>
                  <a:srgbClr val="CDD8D5"/>
                </a:solidFill>
                <a:latin typeface="Arial"/>
                <a:ea typeface="Arial"/>
                <a:cs typeface="Arial"/>
                <a:sym typeface="Arial"/>
              </a:rPr>
              <a:t>3 COLLABORATORS</a:t>
            </a:r>
            <a:endParaRPr/>
          </a:p>
        </p:txBody>
      </p:sp>
      <p:sp>
        <p:nvSpPr>
          <p:cNvPr id="97" name="Google Shape;97;p13"/>
          <p:cNvSpPr txBox="1"/>
          <p:nvPr/>
        </p:nvSpPr>
        <p:spPr>
          <a:xfrm>
            <a:off x="896112" y="5486400"/>
            <a:ext cx="48006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C4CFCC"/>
                </a:solidFill>
                <a:latin typeface="Arial"/>
                <a:ea typeface="Arial"/>
                <a:cs typeface="Arial"/>
                <a:sym typeface="Arial"/>
              </a:rPr>
              <a:t>Ganapathiraju Venkata Atchutha Ramaraju</a:t>
            </a:r>
            <a:r>
              <a:rPr lang="en-US" sz="850">
                <a:solidFill>
                  <a:srgbClr val="C4CFCC"/>
                </a:solidFill>
              </a:rPr>
              <a:t>,</a:t>
            </a:r>
            <a:br>
              <a:rPr b="0" i="0" lang="en-US" sz="850" u="none" cap="none" strike="noStrike">
                <a:solidFill>
                  <a:srgbClr val="C4CFCC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850" u="none" cap="none" strike="noStrike">
                <a:solidFill>
                  <a:srgbClr val="C4CFCC"/>
                </a:solidFill>
                <a:latin typeface="Arial"/>
                <a:ea typeface="Arial"/>
                <a:cs typeface="Arial"/>
                <a:sym typeface="Arial"/>
              </a:rPr>
              <a:t>Ganta Yasaswini</a:t>
            </a:r>
            <a:r>
              <a:rPr lang="en-US" sz="850">
                <a:solidFill>
                  <a:srgbClr val="C4CFCC"/>
                </a:solidFill>
              </a:rPr>
              <a:t>, </a:t>
            </a:r>
            <a:r>
              <a:rPr b="0" i="0" lang="en-US" sz="850" u="none" cap="none" strike="noStrike">
                <a:solidFill>
                  <a:srgbClr val="C4CFCC"/>
                </a:solidFill>
                <a:latin typeface="Arial"/>
                <a:ea typeface="Arial"/>
                <a:cs typeface="Arial"/>
                <a:sym typeface="Arial"/>
              </a:rPr>
              <a:t>Boyina Kundana Venkata Sai</a:t>
            </a:r>
            <a:endParaRPr/>
          </a:p>
        </p:txBody>
      </p:sp>
      <p:sp>
        <p:nvSpPr>
          <p:cNvPr id="98" name="Google Shape;98;p13"/>
          <p:cNvSpPr/>
          <p:nvPr/>
        </p:nvSpPr>
        <p:spPr>
          <a:xfrm>
            <a:off x="6693408" y="5897880"/>
            <a:ext cx="4224528" cy="530352"/>
          </a:xfrm>
          <a:prstGeom prst="roundRect">
            <a:avLst>
              <a:gd fmla="val 16667" name="adj"/>
            </a:avLst>
          </a:prstGeom>
          <a:solidFill>
            <a:srgbClr val="141F2B"/>
          </a:solidFill>
          <a:ln cap="flat" cmpd="sng" w="9525">
            <a:solidFill>
              <a:srgbClr val="CD9D4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3"/>
          <p:cNvSpPr txBox="1"/>
          <p:nvPr/>
        </p:nvSpPr>
        <p:spPr>
          <a:xfrm>
            <a:off x="6839712" y="6053328"/>
            <a:ext cx="39319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HOSPITALITY • RESERVATIONS • PAYMENTS • AUDITING</a:t>
            </a:r>
            <a:endParaRPr/>
          </a:p>
        </p:txBody>
      </p:sp>
      <p:sp>
        <p:nvSpPr>
          <p:cNvPr id="100" name="Google Shape;100;p13"/>
          <p:cNvSpPr txBox="1"/>
          <p:nvPr/>
        </p:nvSpPr>
        <p:spPr>
          <a:xfrm>
            <a:off x="676656" y="6547104"/>
            <a:ext cx="32004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B8C6C2"/>
                </a:solidFill>
                <a:latin typeface="Arial"/>
                <a:ea typeface="Arial"/>
                <a:cs typeface="Arial"/>
                <a:sym typeface="Arial"/>
              </a:rPr>
              <a:t>TEAM 15  •  HOTEL MANAGEMENT SYSTEM</a:t>
            </a:r>
            <a:endParaRPr/>
          </a:p>
        </p:txBody>
      </p:sp>
      <p:sp>
        <p:nvSpPr>
          <p:cNvPr id="101" name="Google Shape;101;p13"/>
          <p:cNvSpPr txBox="1"/>
          <p:nvPr/>
        </p:nvSpPr>
        <p:spPr>
          <a:xfrm>
            <a:off x="11137392" y="6547104"/>
            <a:ext cx="5029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01 / 13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6F1"/>
        </a:solidFill>
      </p:bgPr>
    </p:bg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4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3846A"/>
          </a:solidFill>
          <a:ln cap="flat" cmpd="sng" w="9525">
            <a:solidFill>
              <a:srgbClr val="23846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4"/>
          <p:cNvSpPr/>
          <p:nvPr/>
        </p:nvSpPr>
        <p:spPr>
          <a:xfrm>
            <a:off x="11475720" y="0"/>
            <a:ext cx="713232" cy="73152"/>
          </a:xfrm>
          <a:prstGeom prst="rect">
            <a:avLst/>
          </a:prstGeom>
          <a:solidFill>
            <a:srgbClr val="CD9D48"/>
          </a:solidFill>
          <a:ln cap="flat" cmpd="sng" w="9525">
            <a:solidFill>
              <a:srgbClr val="CD9D4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14"/>
          <p:cNvSpPr txBox="1"/>
          <p:nvPr/>
        </p:nvSpPr>
        <p:spPr>
          <a:xfrm>
            <a:off x="594360" y="475488"/>
            <a:ext cx="89611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141F2B"/>
                </a:solidFill>
                <a:latin typeface="Arial"/>
                <a:ea typeface="Arial"/>
                <a:cs typeface="Arial"/>
                <a:sym typeface="Arial"/>
              </a:rPr>
              <a:t>Introduction &amp; Project Objectives</a:t>
            </a:r>
            <a:endParaRPr/>
          </a:p>
        </p:txBody>
      </p:sp>
      <p:sp>
        <p:nvSpPr>
          <p:cNvPr id="109" name="Google Shape;109;p14"/>
          <p:cNvSpPr txBox="1"/>
          <p:nvPr/>
        </p:nvSpPr>
        <p:spPr>
          <a:xfrm>
            <a:off x="612648" y="1005840"/>
            <a:ext cx="104241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69747A"/>
                </a:solidFill>
                <a:latin typeface="Arial"/>
                <a:ea typeface="Arial"/>
                <a:cs typeface="Arial"/>
                <a:sym typeface="Arial"/>
              </a:rPr>
              <a:t>Hotel Management System  •  Project Overview</a:t>
            </a:r>
            <a:endParaRPr/>
          </a:p>
        </p:txBody>
      </p:sp>
      <p:sp>
        <p:nvSpPr>
          <p:cNvPr id="110" name="Google Shape;110;p14"/>
          <p:cNvSpPr/>
          <p:nvPr/>
        </p:nvSpPr>
        <p:spPr>
          <a:xfrm>
            <a:off x="594360" y="1572768"/>
            <a:ext cx="11000232" cy="1078992"/>
          </a:xfrm>
          <a:prstGeom prst="roundRect">
            <a:avLst>
              <a:gd fmla="val 12000" name="adj"/>
            </a:avLst>
          </a:prstGeom>
          <a:solidFill>
            <a:srgbClr val="141F2B"/>
          </a:solidFill>
          <a:ln cap="flat" cmpd="sng" w="9525">
            <a:solidFill>
              <a:srgbClr val="141F2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4"/>
          <p:cNvSpPr txBox="1"/>
          <p:nvPr/>
        </p:nvSpPr>
        <p:spPr>
          <a:xfrm>
            <a:off x="868675" y="1645955"/>
            <a:ext cx="4389000" cy="2094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CD9D48"/>
                </a:solidFill>
                <a:latin typeface="Arial"/>
                <a:ea typeface="Arial"/>
                <a:cs typeface="Arial"/>
                <a:sym typeface="Arial"/>
              </a:rPr>
              <a:t>WHAT IS THE HOTEL MANAGEMENT SYSTEM (HMS)?</a:t>
            </a:r>
            <a:endParaRPr/>
          </a:p>
        </p:txBody>
      </p:sp>
      <p:sp>
        <p:nvSpPr>
          <p:cNvPr id="112" name="Google Shape;112;p14"/>
          <p:cNvSpPr txBox="1"/>
          <p:nvPr/>
        </p:nvSpPr>
        <p:spPr>
          <a:xfrm>
            <a:off x="868675" y="1956822"/>
            <a:ext cx="10012800" cy="393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 centralized, relational software system implemented on MySQL (database: hotel_management) designed to digitally administer guest profiles, real-time room inventory, multi-date reservations, financial payments, and front-desk check-in/out lifecycles.</a:t>
            </a:r>
            <a:endParaRPr/>
          </a:p>
        </p:txBody>
      </p:sp>
      <p:sp>
        <p:nvSpPr>
          <p:cNvPr id="113" name="Google Shape;113;p14"/>
          <p:cNvSpPr txBox="1"/>
          <p:nvPr/>
        </p:nvSpPr>
        <p:spPr>
          <a:xfrm>
            <a:off x="1023950" y="2339000"/>
            <a:ext cx="713100" cy="2094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B4CDC6"/>
                </a:solidFill>
                <a:latin typeface="Arial"/>
                <a:ea typeface="Arial"/>
                <a:cs typeface="Arial"/>
                <a:sym typeface="Arial"/>
              </a:rPr>
              <a:t>Goal:</a:t>
            </a:r>
            <a:endParaRPr/>
          </a:p>
        </p:txBody>
      </p:sp>
      <p:sp>
        <p:nvSpPr>
          <p:cNvPr id="114" name="Google Shape;114;p14"/>
          <p:cNvSpPr txBox="1"/>
          <p:nvPr/>
        </p:nvSpPr>
        <p:spPr>
          <a:xfrm>
            <a:off x="1417200" y="2330777"/>
            <a:ext cx="8961000" cy="2094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DDE5E3"/>
                </a:solidFill>
                <a:latin typeface="Arial"/>
                <a:ea typeface="Arial"/>
                <a:cs typeface="Arial"/>
                <a:sym typeface="Arial"/>
              </a:rPr>
              <a:t>Give hotel administrators and receptionists a single, synchronized source of truth for hospitality operations.</a:t>
            </a:r>
            <a:endParaRPr/>
          </a:p>
        </p:txBody>
      </p:sp>
      <p:sp>
        <p:nvSpPr>
          <p:cNvPr id="115" name="Google Shape;115;p14"/>
          <p:cNvSpPr/>
          <p:nvPr/>
        </p:nvSpPr>
        <p:spPr>
          <a:xfrm>
            <a:off x="594360" y="3017520"/>
            <a:ext cx="2084831" cy="2423160"/>
          </a:xfrm>
          <a:prstGeom prst="roundRect">
            <a:avLst>
              <a:gd fmla="val 12000" name="adj"/>
            </a:avLst>
          </a:prstGeom>
          <a:solidFill>
            <a:srgbClr val="FFFFFF"/>
          </a:solidFill>
          <a:ln cap="flat" cmpd="sng" w="9525">
            <a:solidFill>
              <a:srgbClr val="E8ECE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4"/>
          <p:cNvSpPr/>
          <p:nvPr/>
        </p:nvSpPr>
        <p:spPr>
          <a:xfrm>
            <a:off x="594360" y="3017520"/>
            <a:ext cx="64008" cy="2423160"/>
          </a:xfrm>
          <a:prstGeom prst="rect">
            <a:avLst/>
          </a:prstGeom>
          <a:solidFill>
            <a:srgbClr val="23846A"/>
          </a:solidFill>
          <a:ln cap="flat" cmpd="sng" w="9525">
            <a:solidFill>
              <a:srgbClr val="23846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14"/>
          <p:cNvSpPr/>
          <p:nvPr/>
        </p:nvSpPr>
        <p:spPr>
          <a:xfrm>
            <a:off x="795528" y="3200400"/>
            <a:ext cx="347472" cy="347472"/>
          </a:xfrm>
          <a:prstGeom prst="roundRect">
            <a:avLst>
              <a:gd fmla="val 12000" name="adj"/>
            </a:avLst>
          </a:prstGeom>
          <a:solidFill>
            <a:srgbClr val="23846A"/>
          </a:solidFill>
          <a:ln cap="flat" cmpd="sng" w="9525">
            <a:solidFill>
              <a:srgbClr val="23846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4"/>
          <p:cNvSpPr txBox="1"/>
          <p:nvPr/>
        </p:nvSpPr>
        <p:spPr>
          <a:xfrm>
            <a:off x="795528" y="3195827"/>
            <a:ext cx="347472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27425" lIns="27425" spcFirstLastPara="1" rIns="27425" wrap="square" tIns="274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/>
          </a:p>
        </p:txBody>
      </p:sp>
      <p:sp>
        <p:nvSpPr>
          <p:cNvPr id="119" name="Google Shape;119;p14"/>
          <p:cNvSpPr txBox="1"/>
          <p:nvPr/>
        </p:nvSpPr>
        <p:spPr>
          <a:xfrm>
            <a:off x="1252728" y="3200400"/>
            <a:ext cx="1225295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41F2B"/>
                </a:solidFill>
                <a:latin typeface="Arial"/>
                <a:ea typeface="Arial"/>
                <a:cs typeface="Arial"/>
                <a:sym typeface="Arial"/>
              </a:rPr>
              <a:t>Customer Registry</a:t>
            </a:r>
            <a:endParaRPr/>
          </a:p>
        </p:txBody>
      </p:sp>
      <p:sp>
        <p:nvSpPr>
          <p:cNvPr id="120" name="Google Shape;120;p14"/>
          <p:cNvSpPr txBox="1"/>
          <p:nvPr/>
        </p:nvSpPr>
        <p:spPr>
          <a:xfrm>
            <a:off x="1252728" y="3602736"/>
            <a:ext cx="1197863" cy="1709928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5B676F"/>
                </a:solidFill>
                <a:latin typeface="Arial"/>
                <a:ea typeface="Arial"/>
                <a:cs typeface="Arial"/>
                <a:sym typeface="Arial"/>
              </a:rPr>
              <a:t>Captures contact records, address, DOB, and verified government ID credentials.</a:t>
            </a:r>
            <a:endParaRPr/>
          </a:p>
        </p:txBody>
      </p:sp>
      <p:sp>
        <p:nvSpPr>
          <p:cNvPr id="121" name="Google Shape;121;p14"/>
          <p:cNvSpPr/>
          <p:nvPr/>
        </p:nvSpPr>
        <p:spPr>
          <a:xfrm>
            <a:off x="2834640" y="3017520"/>
            <a:ext cx="2084831" cy="2423160"/>
          </a:xfrm>
          <a:prstGeom prst="roundRect">
            <a:avLst>
              <a:gd fmla="val 12000" name="adj"/>
            </a:avLst>
          </a:prstGeom>
          <a:solidFill>
            <a:srgbClr val="FFFFFF"/>
          </a:solidFill>
          <a:ln cap="flat" cmpd="sng" w="9525">
            <a:solidFill>
              <a:srgbClr val="E8ECE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4"/>
          <p:cNvSpPr/>
          <p:nvPr/>
        </p:nvSpPr>
        <p:spPr>
          <a:xfrm>
            <a:off x="2834640" y="3017520"/>
            <a:ext cx="64008" cy="2423160"/>
          </a:xfrm>
          <a:prstGeom prst="rect">
            <a:avLst/>
          </a:prstGeom>
          <a:solidFill>
            <a:srgbClr val="CD9D48"/>
          </a:solidFill>
          <a:ln cap="flat" cmpd="sng" w="9525">
            <a:solidFill>
              <a:srgbClr val="CD9D4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14"/>
          <p:cNvSpPr/>
          <p:nvPr/>
        </p:nvSpPr>
        <p:spPr>
          <a:xfrm>
            <a:off x="3035808" y="3200400"/>
            <a:ext cx="347472" cy="347472"/>
          </a:xfrm>
          <a:prstGeom prst="roundRect">
            <a:avLst>
              <a:gd fmla="val 12000" name="adj"/>
            </a:avLst>
          </a:prstGeom>
          <a:solidFill>
            <a:srgbClr val="CD9D48"/>
          </a:solidFill>
          <a:ln cap="flat" cmpd="sng" w="9525">
            <a:solidFill>
              <a:srgbClr val="CD9D4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14"/>
          <p:cNvSpPr txBox="1"/>
          <p:nvPr/>
        </p:nvSpPr>
        <p:spPr>
          <a:xfrm>
            <a:off x="3035808" y="3195827"/>
            <a:ext cx="347472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27425" lIns="27425" spcFirstLastPara="1" rIns="27425" wrap="square" tIns="274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/>
          </a:p>
        </p:txBody>
      </p:sp>
      <p:sp>
        <p:nvSpPr>
          <p:cNvPr id="125" name="Google Shape;125;p14"/>
          <p:cNvSpPr txBox="1"/>
          <p:nvPr/>
        </p:nvSpPr>
        <p:spPr>
          <a:xfrm>
            <a:off x="3493008" y="3200400"/>
            <a:ext cx="1225295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41F2B"/>
                </a:solidFill>
                <a:latin typeface="Arial"/>
                <a:ea typeface="Arial"/>
                <a:cs typeface="Arial"/>
                <a:sym typeface="Arial"/>
              </a:rPr>
              <a:t>Room Types</a:t>
            </a:r>
            <a:endParaRPr/>
          </a:p>
        </p:txBody>
      </p:sp>
      <p:sp>
        <p:nvSpPr>
          <p:cNvPr id="126" name="Google Shape;126;p14"/>
          <p:cNvSpPr txBox="1"/>
          <p:nvPr/>
        </p:nvSpPr>
        <p:spPr>
          <a:xfrm>
            <a:off x="3493008" y="3602736"/>
            <a:ext cx="1197863" cy="1709928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5B676F"/>
                </a:solidFill>
                <a:latin typeface="Arial"/>
                <a:ea typeface="Arial"/>
                <a:cs typeface="Arial"/>
                <a:sym typeface="Arial"/>
              </a:rPr>
              <a:t>Lookup catalog for Single, Double, Deluxe, Suite, and Family configurations.</a:t>
            </a:r>
            <a:endParaRPr/>
          </a:p>
        </p:txBody>
      </p:sp>
      <p:sp>
        <p:nvSpPr>
          <p:cNvPr id="127" name="Google Shape;127;p14"/>
          <p:cNvSpPr/>
          <p:nvPr/>
        </p:nvSpPr>
        <p:spPr>
          <a:xfrm>
            <a:off x="5074920" y="3017520"/>
            <a:ext cx="2084831" cy="2423160"/>
          </a:xfrm>
          <a:prstGeom prst="roundRect">
            <a:avLst>
              <a:gd fmla="val 12000" name="adj"/>
            </a:avLst>
          </a:prstGeom>
          <a:solidFill>
            <a:srgbClr val="FFFFFF"/>
          </a:solidFill>
          <a:ln cap="flat" cmpd="sng" w="9525">
            <a:solidFill>
              <a:srgbClr val="E8ECE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4"/>
          <p:cNvSpPr/>
          <p:nvPr/>
        </p:nvSpPr>
        <p:spPr>
          <a:xfrm>
            <a:off x="5074920" y="3017520"/>
            <a:ext cx="64008" cy="2423160"/>
          </a:xfrm>
          <a:prstGeom prst="rect">
            <a:avLst/>
          </a:prstGeom>
          <a:solidFill>
            <a:srgbClr val="406AA6"/>
          </a:solidFill>
          <a:ln cap="flat" cmpd="sng" w="9525">
            <a:solidFill>
              <a:srgbClr val="406AA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14"/>
          <p:cNvSpPr/>
          <p:nvPr/>
        </p:nvSpPr>
        <p:spPr>
          <a:xfrm>
            <a:off x="5276088" y="3200400"/>
            <a:ext cx="347472" cy="347472"/>
          </a:xfrm>
          <a:prstGeom prst="roundRect">
            <a:avLst>
              <a:gd fmla="val 12000" name="adj"/>
            </a:avLst>
          </a:prstGeom>
          <a:solidFill>
            <a:srgbClr val="406AA6"/>
          </a:solidFill>
          <a:ln cap="flat" cmpd="sng" w="9525">
            <a:solidFill>
              <a:srgbClr val="406AA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14"/>
          <p:cNvSpPr txBox="1"/>
          <p:nvPr/>
        </p:nvSpPr>
        <p:spPr>
          <a:xfrm>
            <a:off x="5276088" y="3195827"/>
            <a:ext cx="347472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27425" lIns="27425" spcFirstLastPara="1" rIns="27425" wrap="square" tIns="274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/>
          </a:p>
        </p:txBody>
      </p:sp>
      <p:sp>
        <p:nvSpPr>
          <p:cNvPr id="131" name="Google Shape;131;p14"/>
          <p:cNvSpPr txBox="1"/>
          <p:nvPr/>
        </p:nvSpPr>
        <p:spPr>
          <a:xfrm>
            <a:off x="5733288" y="3200400"/>
            <a:ext cx="1225296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41F2B"/>
                </a:solidFill>
                <a:latin typeface="Arial"/>
                <a:ea typeface="Arial"/>
                <a:cs typeface="Arial"/>
                <a:sym typeface="Arial"/>
              </a:rPr>
              <a:t>Room Inventory</a:t>
            </a:r>
            <a:endParaRPr/>
          </a:p>
        </p:txBody>
      </p:sp>
      <p:sp>
        <p:nvSpPr>
          <p:cNvPr id="132" name="Google Shape;132;p14"/>
          <p:cNvSpPr txBox="1"/>
          <p:nvPr/>
        </p:nvSpPr>
        <p:spPr>
          <a:xfrm>
            <a:off x="5733288" y="3602736"/>
            <a:ext cx="1197864" cy="1709928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5B676F"/>
                </a:solidFill>
                <a:latin typeface="Arial"/>
                <a:ea typeface="Arial"/>
                <a:cs typeface="Arial"/>
                <a:sym typeface="Arial"/>
              </a:rPr>
              <a:t>Tracks floor numbers, AC status, pricing tiers, and maintenance routines.</a:t>
            </a:r>
            <a:endParaRPr/>
          </a:p>
        </p:txBody>
      </p:sp>
      <p:sp>
        <p:nvSpPr>
          <p:cNvPr id="133" name="Google Shape;133;p14"/>
          <p:cNvSpPr/>
          <p:nvPr/>
        </p:nvSpPr>
        <p:spPr>
          <a:xfrm>
            <a:off x="7315200" y="3017520"/>
            <a:ext cx="2084831" cy="2423160"/>
          </a:xfrm>
          <a:prstGeom prst="roundRect">
            <a:avLst>
              <a:gd fmla="val 12000" name="adj"/>
            </a:avLst>
          </a:prstGeom>
          <a:solidFill>
            <a:srgbClr val="FFFFFF"/>
          </a:solidFill>
          <a:ln cap="flat" cmpd="sng" w="9525">
            <a:solidFill>
              <a:srgbClr val="E8ECE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4"/>
          <p:cNvSpPr/>
          <p:nvPr/>
        </p:nvSpPr>
        <p:spPr>
          <a:xfrm>
            <a:off x="7315200" y="3017520"/>
            <a:ext cx="64008" cy="2423160"/>
          </a:xfrm>
          <a:prstGeom prst="rect">
            <a:avLst/>
          </a:prstGeom>
          <a:solidFill>
            <a:srgbClr val="166752"/>
          </a:solidFill>
          <a:ln cap="flat" cmpd="sng" w="9525">
            <a:solidFill>
              <a:srgbClr val="16675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4"/>
          <p:cNvSpPr/>
          <p:nvPr/>
        </p:nvSpPr>
        <p:spPr>
          <a:xfrm>
            <a:off x="7516368" y="3200400"/>
            <a:ext cx="347472" cy="347472"/>
          </a:xfrm>
          <a:prstGeom prst="roundRect">
            <a:avLst>
              <a:gd fmla="val 12000" name="adj"/>
            </a:avLst>
          </a:prstGeom>
          <a:solidFill>
            <a:srgbClr val="166752"/>
          </a:solidFill>
          <a:ln cap="flat" cmpd="sng" w="9525">
            <a:solidFill>
              <a:srgbClr val="16675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4"/>
          <p:cNvSpPr txBox="1"/>
          <p:nvPr/>
        </p:nvSpPr>
        <p:spPr>
          <a:xfrm>
            <a:off x="7516368" y="3195827"/>
            <a:ext cx="347472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27425" lIns="27425" spcFirstLastPara="1" rIns="27425" wrap="square" tIns="274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/>
          </a:p>
        </p:txBody>
      </p:sp>
      <p:sp>
        <p:nvSpPr>
          <p:cNvPr id="137" name="Google Shape;137;p14"/>
          <p:cNvSpPr txBox="1"/>
          <p:nvPr/>
        </p:nvSpPr>
        <p:spPr>
          <a:xfrm>
            <a:off x="7973568" y="3200400"/>
            <a:ext cx="1225295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41F2B"/>
                </a:solidFill>
                <a:latin typeface="Arial"/>
                <a:ea typeface="Arial"/>
                <a:cs typeface="Arial"/>
                <a:sym typeface="Arial"/>
              </a:rPr>
              <a:t>Booking Engine</a:t>
            </a:r>
            <a:endParaRPr/>
          </a:p>
        </p:txBody>
      </p:sp>
      <p:sp>
        <p:nvSpPr>
          <p:cNvPr id="138" name="Google Shape;138;p14"/>
          <p:cNvSpPr txBox="1"/>
          <p:nvPr/>
        </p:nvSpPr>
        <p:spPr>
          <a:xfrm>
            <a:off x="7973568" y="3602736"/>
            <a:ext cx="1197863" cy="1709928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5B676F"/>
                </a:solidFill>
                <a:latin typeface="Arial"/>
                <a:ea typeface="Arial"/>
                <a:cs typeface="Arial"/>
                <a:sym typeface="Arial"/>
              </a:rPr>
              <a:t>Manages arrival/departure schedules with automated night &amp; tariff calculation.</a:t>
            </a:r>
            <a:endParaRPr/>
          </a:p>
        </p:txBody>
      </p:sp>
      <p:sp>
        <p:nvSpPr>
          <p:cNvPr id="139" name="Google Shape;139;p14"/>
          <p:cNvSpPr/>
          <p:nvPr/>
        </p:nvSpPr>
        <p:spPr>
          <a:xfrm>
            <a:off x="9555480" y="3017520"/>
            <a:ext cx="2084831" cy="2423160"/>
          </a:xfrm>
          <a:prstGeom prst="roundRect">
            <a:avLst>
              <a:gd fmla="val 12000" name="adj"/>
            </a:avLst>
          </a:prstGeom>
          <a:solidFill>
            <a:srgbClr val="FFFFFF"/>
          </a:solidFill>
          <a:ln cap="flat" cmpd="sng" w="9525">
            <a:solidFill>
              <a:srgbClr val="E8ECE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4"/>
          <p:cNvSpPr/>
          <p:nvPr/>
        </p:nvSpPr>
        <p:spPr>
          <a:xfrm>
            <a:off x="9555480" y="3017520"/>
            <a:ext cx="64008" cy="2423160"/>
          </a:xfrm>
          <a:prstGeom prst="rect">
            <a:avLst/>
          </a:prstGeom>
          <a:solidFill>
            <a:srgbClr val="CD9D48"/>
          </a:solidFill>
          <a:ln cap="flat" cmpd="sng" w="9525">
            <a:solidFill>
              <a:srgbClr val="CD9D4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4"/>
          <p:cNvSpPr/>
          <p:nvPr/>
        </p:nvSpPr>
        <p:spPr>
          <a:xfrm>
            <a:off x="9756648" y="3200400"/>
            <a:ext cx="347472" cy="347472"/>
          </a:xfrm>
          <a:prstGeom prst="roundRect">
            <a:avLst>
              <a:gd fmla="val 12000" name="adj"/>
            </a:avLst>
          </a:prstGeom>
          <a:solidFill>
            <a:srgbClr val="CD9D48"/>
          </a:solidFill>
          <a:ln cap="flat" cmpd="sng" w="9525">
            <a:solidFill>
              <a:srgbClr val="CD9D4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4"/>
          <p:cNvSpPr txBox="1"/>
          <p:nvPr/>
        </p:nvSpPr>
        <p:spPr>
          <a:xfrm>
            <a:off x="9756648" y="3195827"/>
            <a:ext cx="347472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27425" lIns="27425" spcFirstLastPara="1" rIns="27425" wrap="square" tIns="274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  <a:endParaRPr/>
          </a:p>
        </p:txBody>
      </p:sp>
      <p:sp>
        <p:nvSpPr>
          <p:cNvPr id="143" name="Google Shape;143;p14"/>
          <p:cNvSpPr txBox="1"/>
          <p:nvPr/>
        </p:nvSpPr>
        <p:spPr>
          <a:xfrm>
            <a:off x="10213848" y="3200400"/>
            <a:ext cx="1225295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41F2B"/>
                </a:solidFill>
                <a:latin typeface="Arial"/>
                <a:ea typeface="Arial"/>
                <a:cs typeface="Arial"/>
                <a:sym typeface="Arial"/>
              </a:rPr>
              <a:t>Payment Ledger</a:t>
            </a:r>
            <a:endParaRPr/>
          </a:p>
        </p:txBody>
      </p:sp>
      <p:sp>
        <p:nvSpPr>
          <p:cNvPr id="144" name="Google Shape;144;p14"/>
          <p:cNvSpPr txBox="1"/>
          <p:nvPr/>
        </p:nvSpPr>
        <p:spPr>
          <a:xfrm>
            <a:off x="10213848" y="3602736"/>
            <a:ext cx="1197863" cy="1709928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5B676F"/>
                </a:solidFill>
                <a:latin typeface="Arial"/>
                <a:ea typeface="Arial"/>
                <a:cs typeface="Arial"/>
                <a:sym typeface="Arial"/>
              </a:rPr>
              <a:t>Tracks UPI, Card, Net Banking &amp; Cash transactions with gateway references.</a:t>
            </a:r>
            <a:endParaRPr/>
          </a:p>
        </p:txBody>
      </p:sp>
      <p:sp>
        <p:nvSpPr>
          <p:cNvPr id="145" name="Google Shape;145;p14"/>
          <p:cNvSpPr txBox="1"/>
          <p:nvPr/>
        </p:nvSpPr>
        <p:spPr>
          <a:xfrm>
            <a:off x="612648" y="5715000"/>
            <a:ext cx="2286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66752"/>
                </a:solidFill>
                <a:latin typeface="Arial"/>
                <a:ea typeface="Arial"/>
                <a:cs typeface="Arial"/>
                <a:sym typeface="Arial"/>
              </a:rPr>
              <a:t>ONE SOURCE OF TRUTH</a:t>
            </a:r>
            <a:endParaRPr/>
          </a:p>
        </p:txBody>
      </p:sp>
      <p:sp>
        <p:nvSpPr>
          <p:cNvPr id="146" name="Google Shape;146;p14"/>
          <p:cNvSpPr txBox="1"/>
          <p:nvPr/>
        </p:nvSpPr>
        <p:spPr>
          <a:xfrm>
            <a:off x="2834640" y="5696712"/>
            <a:ext cx="81381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141F2B"/>
                </a:solidFill>
                <a:latin typeface="Arial"/>
                <a:ea typeface="Arial"/>
                <a:cs typeface="Arial"/>
                <a:sym typeface="Arial"/>
              </a:rPr>
              <a:t>Guests  →  Rooms  →  Bookings  →  Payments  →  Operations</a:t>
            </a:r>
            <a:endParaRPr/>
          </a:p>
        </p:txBody>
      </p:sp>
      <p:sp>
        <p:nvSpPr>
          <p:cNvPr id="147" name="Google Shape;147;p14"/>
          <p:cNvSpPr txBox="1"/>
          <p:nvPr/>
        </p:nvSpPr>
        <p:spPr>
          <a:xfrm>
            <a:off x="594360" y="6510528"/>
            <a:ext cx="43891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5B676F"/>
                </a:solidFill>
                <a:latin typeface="Arial"/>
                <a:ea typeface="Arial"/>
                <a:cs typeface="Arial"/>
                <a:sym typeface="Arial"/>
              </a:rPr>
              <a:t>TEAM 15  •  HOTEL MANAGEMENT SYSTEM</a:t>
            </a:r>
            <a:endParaRPr/>
          </a:p>
        </p:txBody>
      </p:sp>
      <p:sp>
        <p:nvSpPr>
          <p:cNvPr id="148" name="Google Shape;148;p14"/>
          <p:cNvSpPr txBox="1"/>
          <p:nvPr/>
        </p:nvSpPr>
        <p:spPr>
          <a:xfrm>
            <a:off x="10835640" y="6492240"/>
            <a:ext cx="749808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5B676F"/>
                </a:solidFill>
                <a:latin typeface="Arial"/>
                <a:ea typeface="Arial"/>
                <a:cs typeface="Arial"/>
                <a:sym typeface="Arial"/>
              </a:rPr>
              <a:t>02 / 13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6F1"/>
        </a:solidFill>
      </p:bgPr>
    </p:bg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5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3846A"/>
          </a:solidFill>
          <a:ln cap="flat" cmpd="sng" w="9525">
            <a:solidFill>
              <a:srgbClr val="23846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5"/>
          <p:cNvSpPr/>
          <p:nvPr/>
        </p:nvSpPr>
        <p:spPr>
          <a:xfrm>
            <a:off x="11475720" y="0"/>
            <a:ext cx="713232" cy="73152"/>
          </a:xfrm>
          <a:prstGeom prst="rect">
            <a:avLst/>
          </a:prstGeom>
          <a:solidFill>
            <a:srgbClr val="CD9D48"/>
          </a:solidFill>
          <a:ln cap="flat" cmpd="sng" w="9525">
            <a:solidFill>
              <a:srgbClr val="CD9D4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5"/>
          <p:cNvSpPr txBox="1"/>
          <p:nvPr/>
        </p:nvSpPr>
        <p:spPr>
          <a:xfrm>
            <a:off x="594360" y="475488"/>
            <a:ext cx="89611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141F2B"/>
                </a:solidFill>
                <a:latin typeface="Arial"/>
                <a:ea typeface="Arial"/>
                <a:cs typeface="Arial"/>
                <a:sym typeface="Arial"/>
              </a:rPr>
              <a:t>Problem Statement &amp; Solution</a:t>
            </a:r>
            <a:endParaRPr/>
          </a:p>
        </p:txBody>
      </p:sp>
      <p:sp>
        <p:nvSpPr>
          <p:cNvPr id="156" name="Google Shape;156;p15"/>
          <p:cNvSpPr txBox="1"/>
          <p:nvPr/>
        </p:nvSpPr>
        <p:spPr>
          <a:xfrm>
            <a:off x="612648" y="1005840"/>
            <a:ext cx="104241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69747A"/>
                </a:solidFill>
                <a:latin typeface="Arial"/>
                <a:ea typeface="Arial"/>
                <a:cs typeface="Arial"/>
                <a:sym typeface="Arial"/>
              </a:rPr>
              <a:t>Hotel Management System  •  Problem Analysis &amp; Solution</a:t>
            </a:r>
            <a:endParaRPr/>
          </a:p>
        </p:txBody>
      </p:sp>
      <p:sp>
        <p:nvSpPr>
          <p:cNvPr id="157" name="Google Shape;157;p15"/>
          <p:cNvSpPr/>
          <p:nvPr/>
        </p:nvSpPr>
        <p:spPr>
          <a:xfrm>
            <a:off x="594360" y="1572768"/>
            <a:ext cx="11000232" cy="603504"/>
          </a:xfrm>
          <a:prstGeom prst="roundRect">
            <a:avLst>
              <a:gd fmla="val 12000" name="adj"/>
            </a:avLst>
          </a:prstGeom>
          <a:solidFill>
            <a:srgbClr val="EEDAAE"/>
          </a:solidFill>
          <a:ln cap="flat" cmpd="sng" w="9525">
            <a:solidFill>
              <a:srgbClr val="EEDAA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5"/>
          <p:cNvSpPr txBox="1"/>
          <p:nvPr/>
        </p:nvSpPr>
        <p:spPr>
          <a:xfrm>
            <a:off x="868680" y="1737360"/>
            <a:ext cx="10378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141F2B"/>
                </a:solidFill>
                <a:latin typeface="Arial"/>
                <a:ea typeface="Arial"/>
                <a:cs typeface="Arial"/>
                <a:sym typeface="Arial"/>
              </a:rPr>
              <a:t>Bottom line: the relational MySQL database eliminates paper-based errors, automates bill calculation via triggers, and guarantees data consistency at all times.</a:t>
            </a:r>
            <a:endParaRPr/>
          </a:p>
        </p:txBody>
      </p:sp>
      <p:sp>
        <p:nvSpPr>
          <p:cNvPr id="159" name="Google Shape;159;p15"/>
          <p:cNvSpPr txBox="1"/>
          <p:nvPr/>
        </p:nvSpPr>
        <p:spPr>
          <a:xfrm>
            <a:off x="685800" y="251460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BC4B43"/>
                </a:solidFill>
                <a:latin typeface="Arial"/>
                <a:ea typeface="Arial"/>
                <a:cs typeface="Arial"/>
                <a:sym typeface="Arial"/>
              </a:rPr>
              <a:t>EXISTING CHALLENGES</a:t>
            </a:r>
            <a:endParaRPr/>
          </a:p>
        </p:txBody>
      </p:sp>
      <p:sp>
        <p:nvSpPr>
          <p:cNvPr id="160" name="Google Shape;160;p15"/>
          <p:cNvSpPr txBox="1"/>
          <p:nvPr/>
        </p:nvSpPr>
        <p:spPr>
          <a:xfrm>
            <a:off x="6355080" y="251460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166752"/>
                </a:solidFill>
                <a:latin typeface="Arial"/>
                <a:ea typeface="Arial"/>
                <a:cs typeface="Arial"/>
                <a:sym typeface="Arial"/>
              </a:rPr>
              <a:t>PROPOSED RELATIONAL SOLUTION</a:t>
            </a:r>
            <a:endParaRPr/>
          </a:p>
        </p:txBody>
      </p:sp>
      <p:sp>
        <p:nvSpPr>
          <p:cNvPr id="161" name="Google Shape;161;p15"/>
          <p:cNvSpPr/>
          <p:nvPr/>
        </p:nvSpPr>
        <p:spPr>
          <a:xfrm>
            <a:off x="594360" y="2944368"/>
            <a:ext cx="5212080" cy="557784"/>
          </a:xfrm>
          <a:prstGeom prst="roundRect">
            <a:avLst>
              <a:gd fmla="val 12000" name="adj"/>
            </a:avLst>
          </a:prstGeom>
          <a:solidFill>
            <a:srgbClr val="FFFFFF"/>
          </a:solidFill>
          <a:ln cap="flat" cmpd="sng" w="9525">
            <a:solidFill>
              <a:srgbClr val="E8ECE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5"/>
          <p:cNvSpPr/>
          <p:nvPr/>
        </p:nvSpPr>
        <p:spPr>
          <a:xfrm>
            <a:off x="594360" y="2944368"/>
            <a:ext cx="64008" cy="557784"/>
          </a:xfrm>
          <a:prstGeom prst="rect">
            <a:avLst/>
          </a:prstGeom>
          <a:solidFill>
            <a:srgbClr val="BC4B43"/>
          </a:solidFill>
          <a:ln cap="flat" cmpd="sng" w="9525">
            <a:solidFill>
              <a:srgbClr val="BC4B43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5"/>
          <p:cNvSpPr txBox="1"/>
          <p:nvPr/>
        </p:nvSpPr>
        <p:spPr>
          <a:xfrm>
            <a:off x="804672" y="3044952"/>
            <a:ext cx="4754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80" u="none" cap="none" strike="noStrike">
                <a:solidFill>
                  <a:srgbClr val="232B32"/>
                </a:solidFill>
                <a:latin typeface="Arial"/>
                <a:ea typeface="Arial"/>
                <a:cs typeface="Arial"/>
                <a:sym typeface="Arial"/>
              </a:rPr>
              <a:t>Double Booking Conflicts: Overlapping manual entries on physical ledgers assign identical rooms to multiple guests.</a:t>
            </a:r>
            <a:endParaRPr/>
          </a:p>
        </p:txBody>
      </p:sp>
      <p:sp>
        <p:nvSpPr>
          <p:cNvPr id="164" name="Google Shape;164;p15"/>
          <p:cNvSpPr/>
          <p:nvPr/>
        </p:nvSpPr>
        <p:spPr>
          <a:xfrm>
            <a:off x="6355080" y="2944368"/>
            <a:ext cx="5239512" cy="557784"/>
          </a:xfrm>
          <a:prstGeom prst="roundRect">
            <a:avLst>
              <a:gd fmla="val 12000" name="adj"/>
            </a:avLst>
          </a:prstGeom>
          <a:solidFill>
            <a:srgbClr val="FFFFFF"/>
          </a:solidFill>
          <a:ln cap="flat" cmpd="sng" w="9525">
            <a:solidFill>
              <a:srgbClr val="E8ECE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5"/>
          <p:cNvSpPr/>
          <p:nvPr/>
        </p:nvSpPr>
        <p:spPr>
          <a:xfrm>
            <a:off x="6355080" y="2944368"/>
            <a:ext cx="64008" cy="557784"/>
          </a:xfrm>
          <a:prstGeom prst="rect">
            <a:avLst/>
          </a:prstGeom>
          <a:solidFill>
            <a:srgbClr val="23846A"/>
          </a:solidFill>
          <a:ln cap="flat" cmpd="sng" w="9525">
            <a:solidFill>
              <a:srgbClr val="23846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5"/>
          <p:cNvSpPr txBox="1"/>
          <p:nvPr/>
        </p:nvSpPr>
        <p:spPr>
          <a:xfrm>
            <a:off x="6565392" y="3044952"/>
            <a:ext cx="4800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80" u="none" cap="none" strike="noStrike">
                <a:solidFill>
                  <a:srgbClr val="232B32"/>
                </a:solidFill>
                <a:latin typeface="Arial"/>
                <a:ea typeface="Arial"/>
                <a:cs typeface="Arial"/>
                <a:sym typeface="Arial"/>
              </a:rPr>
              <a:t>Strict Referential Integrity: Foreign key constraints (ON DELETE RESTRICT) prevent orphaned booking records.</a:t>
            </a:r>
            <a:endParaRPr/>
          </a:p>
        </p:txBody>
      </p:sp>
      <p:sp>
        <p:nvSpPr>
          <p:cNvPr id="167" name="Google Shape;167;p15"/>
          <p:cNvSpPr/>
          <p:nvPr/>
        </p:nvSpPr>
        <p:spPr>
          <a:xfrm>
            <a:off x="594360" y="3639312"/>
            <a:ext cx="5212080" cy="557784"/>
          </a:xfrm>
          <a:prstGeom prst="roundRect">
            <a:avLst>
              <a:gd fmla="val 12000" name="adj"/>
            </a:avLst>
          </a:prstGeom>
          <a:solidFill>
            <a:srgbClr val="FFFFFF"/>
          </a:solidFill>
          <a:ln cap="flat" cmpd="sng" w="9525">
            <a:solidFill>
              <a:srgbClr val="E8ECE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5"/>
          <p:cNvSpPr/>
          <p:nvPr/>
        </p:nvSpPr>
        <p:spPr>
          <a:xfrm>
            <a:off x="594360" y="3639312"/>
            <a:ext cx="64008" cy="557784"/>
          </a:xfrm>
          <a:prstGeom prst="rect">
            <a:avLst/>
          </a:prstGeom>
          <a:solidFill>
            <a:srgbClr val="BC4B43"/>
          </a:solidFill>
          <a:ln cap="flat" cmpd="sng" w="9525">
            <a:solidFill>
              <a:srgbClr val="BC4B43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5"/>
          <p:cNvSpPr txBox="1"/>
          <p:nvPr/>
        </p:nvSpPr>
        <p:spPr>
          <a:xfrm>
            <a:off x="804672" y="3739896"/>
            <a:ext cx="4754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80" u="none" cap="none" strike="noStrike">
                <a:solidFill>
                  <a:srgbClr val="232B32"/>
                </a:solidFill>
                <a:latin typeface="Arial"/>
                <a:ea typeface="Arial"/>
                <a:cs typeface="Arial"/>
                <a:sym typeface="Arial"/>
              </a:rPr>
              <a:t>Billing &amp; Tariff Inaccuracies: Manual calculation of multi-night stays and room rates introduces human error.</a:t>
            </a:r>
            <a:endParaRPr/>
          </a:p>
        </p:txBody>
      </p:sp>
      <p:sp>
        <p:nvSpPr>
          <p:cNvPr id="170" name="Google Shape;170;p15"/>
          <p:cNvSpPr/>
          <p:nvPr/>
        </p:nvSpPr>
        <p:spPr>
          <a:xfrm>
            <a:off x="6355080" y="3639312"/>
            <a:ext cx="5239512" cy="557784"/>
          </a:xfrm>
          <a:prstGeom prst="roundRect">
            <a:avLst>
              <a:gd fmla="val 12000" name="adj"/>
            </a:avLst>
          </a:prstGeom>
          <a:solidFill>
            <a:srgbClr val="FFFFFF"/>
          </a:solidFill>
          <a:ln cap="flat" cmpd="sng" w="9525">
            <a:solidFill>
              <a:srgbClr val="E8ECE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5"/>
          <p:cNvSpPr/>
          <p:nvPr/>
        </p:nvSpPr>
        <p:spPr>
          <a:xfrm>
            <a:off x="6355080" y="3639312"/>
            <a:ext cx="64008" cy="557784"/>
          </a:xfrm>
          <a:prstGeom prst="rect">
            <a:avLst/>
          </a:prstGeom>
          <a:solidFill>
            <a:srgbClr val="23846A"/>
          </a:solidFill>
          <a:ln cap="flat" cmpd="sng" w="9525">
            <a:solidFill>
              <a:srgbClr val="23846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5"/>
          <p:cNvSpPr txBox="1"/>
          <p:nvPr/>
        </p:nvSpPr>
        <p:spPr>
          <a:xfrm>
            <a:off x="6565392" y="3739896"/>
            <a:ext cx="4800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80" u="none" cap="none" strike="noStrike">
                <a:solidFill>
                  <a:srgbClr val="232B32"/>
                </a:solidFill>
                <a:latin typeface="Arial"/>
                <a:ea typeface="Arial"/>
                <a:cs typeface="Arial"/>
                <a:sym typeface="Arial"/>
              </a:rPr>
              <a:t>Automated Triggers: before_booking_insert dynamically evaluates DATEDIFF() * Price_Per_Night.</a:t>
            </a:r>
            <a:endParaRPr/>
          </a:p>
        </p:txBody>
      </p:sp>
      <p:sp>
        <p:nvSpPr>
          <p:cNvPr id="173" name="Google Shape;173;p15"/>
          <p:cNvSpPr/>
          <p:nvPr/>
        </p:nvSpPr>
        <p:spPr>
          <a:xfrm>
            <a:off x="594360" y="4334256"/>
            <a:ext cx="5212080" cy="557784"/>
          </a:xfrm>
          <a:prstGeom prst="roundRect">
            <a:avLst>
              <a:gd fmla="val 12000" name="adj"/>
            </a:avLst>
          </a:prstGeom>
          <a:solidFill>
            <a:srgbClr val="FFFFFF"/>
          </a:solidFill>
          <a:ln cap="flat" cmpd="sng" w="9525">
            <a:solidFill>
              <a:srgbClr val="E8ECE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5"/>
          <p:cNvSpPr/>
          <p:nvPr/>
        </p:nvSpPr>
        <p:spPr>
          <a:xfrm>
            <a:off x="594360" y="4334256"/>
            <a:ext cx="64008" cy="557784"/>
          </a:xfrm>
          <a:prstGeom prst="rect">
            <a:avLst/>
          </a:prstGeom>
          <a:solidFill>
            <a:srgbClr val="BC4B43"/>
          </a:solidFill>
          <a:ln cap="flat" cmpd="sng" w="9525">
            <a:solidFill>
              <a:srgbClr val="BC4B43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5"/>
          <p:cNvSpPr txBox="1"/>
          <p:nvPr/>
        </p:nvSpPr>
        <p:spPr>
          <a:xfrm>
            <a:off x="804672" y="4434840"/>
            <a:ext cx="4754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80" u="none" cap="none" strike="noStrike">
                <a:solidFill>
                  <a:srgbClr val="232B32"/>
                </a:solidFill>
                <a:latin typeface="Arial"/>
                <a:ea typeface="Arial"/>
                <a:cs typeface="Arial"/>
                <a:sym typeface="Arial"/>
              </a:rPr>
              <a:t>Untracked Room Conditions: Reception lacks instant status on rooms currently Available, Occupied, or under Maintenance.</a:t>
            </a:r>
            <a:endParaRPr/>
          </a:p>
        </p:txBody>
      </p:sp>
      <p:sp>
        <p:nvSpPr>
          <p:cNvPr id="176" name="Google Shape;176;p15"/>
          <p:cNvSpPr/>
          <p:nvPr/>
        </p:nvSpPr>
        <p:spPr>
          <a:xfrm>
            <a:off x="6355080" y="4334256"/>
            <a:ext cx="5239512" cy="557784"/>
          </a:xfrm>
          <a:prstGeom prst="roundRect">
            <a:avLst>
              <a:gd fmla="val 12000" name="adj"/>
            </a:avLst>
          </a:prstGeom>
          <a:solidFill>
            <a:srgbClr val="FFFFFF"/>
          </a:solidFill>
          <a:ln cap="flat" cmpd="sng" w="9525">
            <a:solidFill>
              <a:srgbClr val="E8ECE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5"/>
          <p:cNvSpPr/>
          <p:nvPr/>
        </p:nvSpPr>
        <p:spPr>
          <a:xfrm>
            <a:off x="6355080" y="4334256"/>
            <a:ext cx="64008" cy="557784"/>
          </a:xfrm>
          <a:prstGeom prst="rect">
            <a:avLst/>
          </a:prstGeom>
          <a:solidFill>
            <a:srgbClr val="23846A"/>
          </a:solidFill>
          <a:ln cap="flat" cmpd="sng" w="9525">
            <a:solidFill>
              <a:srgbClr val="23846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5"/>
          <p:cNvSpPr txBox="1"/>
          <p:nvPr/>
        </p:nvSpPr>
        <p:spPr>
          <a:xfrm>
            <a:off x="6565392" y="4434840"/>
            <a:ext cx="4800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80" u="none" cap="none" strike="noStrike">
                <a:solidFill>
                  <a:srgbClr val="232B32"/>
                </a:solidFill>
                <a:latin typeface="Arial"/>
                <a:ea typeface="Arial"/>
                <a:cs typeface="Arial"/>
                <a:sym typeface="Arial"/>
              </a:rPr>
              <a:t>Third Normal Form (3NF): Room specifications isolated in room_types to eliminate update anomalies.</a:t>
            </a:r>
            <a:endParaRPr/>
          </a:p>
        </p:txBody>
      </p:sp>
      <p:sp>
        <p:nvSpPr>
          <p:cNvPr id="179" name="Google Shape;179;p15"/>
          <p:cNvSpPr/>
          <p:nvPr/>
        </p:nvSpPr>
        <p:spPr>
          <a:xfrm>
            <a:off x="594360" y="5029200"/>
            <a:ext cx="5212080" cy="557784"/>
          </a:xfrm>
          <a:prstGeom prst="roundRect">
            <a:avLst>
              <a:gd fmla="val 12000" name="adj"/>
            </a:avLst>
          </a:prstGeom>
          <a:solidFill>
            <a:srgbClr val="FFFFFF"/>
          </a:solidFill>
          <a:ln cap="flat" cmpd="sng" w="9525">
            <a:solidFill>
              <a:srgbClr val="E8ECE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5"/>
          <p:cNvSpPr/>
          <p:nvPr/>
        </p:nvSpPr>
        <p:spPr>
          <a:xfrm>
            <a:off x="594360" y="5029200"/>
            <a:ext cx="64008" cy="557784"/>
          </a:xfrm>
          <a:prstGeom prst="rect">
            <a:avLst/>
          </a:prstGeom>
          <a:solidFill>
            <a:srgbClr val="BC4B43"/>
          </a:solidFill>
          <a:ln cap="flat" cmpd="sng" w="9525">
            <a:solidFill>
              <a:srgbClr val="BC4B43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5"/>
          <p:cNvSpPr txBox="1"/>
          <p:nvPr/>
        </p:nvSpPr>
        <p:spPr>
          <a:xfrm>
            <a:off x="804672" y="5129784"/>
            <a:ext cx="4754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80" u="none" cap="none" strike="noStrike">
                <a:solidFill>
                  <a:srgbClr val="232B32"/>
                </a:solidFill>
                <a:latin typeface="Arial"/>
                <a:ea typeface="Arial"/>
                <a:cs typeface="Arial"/>
                <a:sym typeface="Arial"/>
              </a:rPr>
              <a:t>Payment Disconnect: Separate billing slips cause unrecorded balances and difficulty tracking payment modes (UPI/Card).</a:t>
            </a:r>
            <a:endParaRPr/>
          </a:p>
        </p:txBody>
      </p:sp>
      <p:sp>
        <p:nvSpPr>
          <p:cNvPr id="182" name="Google Shape;182;p15"/>
          <p:cNvSpPr/>
          <p:nvPr/>
        </p:nvSpPr>
        <p:spPr>
          <a:xfrm>
            <a:off x="6355080" y="5029200"/>
            <a:ext cx="5239512" cy="557784"/>
          </a:xfrm>
          <a:prstGeom prst="roundRect">
            <a:avLst>
              <a:gd fmla="val 12000" name="adj"/>
            </a:avLst>
          </a:prstGeom>
          <a:solidFill>
            <a:srgbClr val="FFFFFF"/>
          </a:solidFill>
          <a:ln cap="flat" cmpd="sng" w="9525">
            <a:solidFill>
              <a:srgbClr val="E8ECE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5"/>
          <p:cNvSpPr/>
          <p:nvPr/>
        </p:nvSpPr>
        <p:spPr>
          <a:xfrm>
            <a:off x="6355080" y="5029200"/>
            <a:ext cx="64008" cy="557784"/>
          </a:xfrm>
          <a:prstGeom prst="rect">
            <a:avLst/>
          </a:prstGeom>
          <a:solidFill>
            <a:srgbClr val="23846A"/>
          </a:solidFill>
          <a:ln cap="flat" cmpd="sng" w="9525">
            <a:solidFill>
              <a:srgbClr val="23846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5"/>
          <p:cNvSpPr txBox="1"/>
          <p:nvPr/>
        </p:nvSpPr>
        <p:spPr>
          <a:xfrm>
            <a:off x="6565392" y="5129784"/>
            <a:ext cx="4800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80" u="none" cap="none" strike="noStrike">
                <a:solidFill>
                  <a:srgbClr val="232B32"/>
                </a:solidFill>
                <a:latin typeface="Arial"/>
                <a:ea typeface="Arial"/>
                <a:cs typeface="Arial"/>
                <a:sym typeface="Arial"/>
              </a:rPr>
              <a:t>ACID-Compliant Transactions: Multi-mode financial transactions logged with unique reference validation.</a:t>
            </a:r>
            <a:endParaRPr/>
          </a:p>
        </p:txBody>
      </p:sp>
      <p:sp>
        <p:nvSpPr>
          <p:cNvPr id="185" name="Google Shape;185;p15"/>
          <p:cNvSpPr txBox="1"/>
          <p:nvPr/>
        </p:nvSpPr>
        <p:spPr>
          <a:xfrm>
            <a:off x="594360" y="6510528"/>
            <a:ext cx="43891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5B676F"/>
                </a:solidFill>
                <a:latin typeface="Arial"/>
                <a:ea typeface="Arial"/>
                <a:cs typeface="Arial"/>
                <a:sym typeface="Arial"/>
              </a:rPr>
              <a:t>TEAM 15  •  HOTEL MANAGEMENT SYSTEM</a:t>
            </a:r>
            <a:endParaRPr/>
          </a:p>
        </p:txBody>
      </p:sp>
      <p:sp>
        <p:nvSpPr>
          <p:cNvPr id="186" name="Google Shape;186;p15"/>
          <p:cNvSpPr txBox="1"/>
          <p:nvPr/>
        </p:nvSpPr>
        <p:spPr>
          <a:xfrm>
            <a:off x="10835640" y="6492240"/>
            <a:ext cx="749808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5B676F"/>
                </a:solidFill>
                <a:latin typeface="Arial"/>
                <a:ea typeface="Arial"/>
                <a:cs typeface="Arial"/>
                <a:sym typeface="Arial"/>
              </a:rPr>
              <a:t>03 / 13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6F1"/>
        </a:solidFill>
      </p:bgPr>
    </p:bg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6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3846A"/>
          </a:solidFill>
          <a:ln cap="flat" cmpd="sng" w="9525">
            <a:solidFill>
              <a:srgbClr val="23846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6"/>
          <p:cNvSpPr/>
          <p:nvPr/>
        </p:nvSpPr>
        <p:spPr>
          <a:xfrm>
            <a:off x="11475720" y="0"/>
            <a:ext cx="713232" cy="73152"/>
          </a:xfrm>
          <a:prstGeom prst="rect">
            <a:avLst/>
          </a:prstGeom>
          <a:solidFill>
            <a:srgbClr val="CD9D48"/>
          </a:solidFill>
          <a:ln cap="flat" cmpd="sng" w="9525">
            <a:solidFill>
              <a:srgbClr val="CD9D4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16"/>
          <p:cNvSpPr txBox="1"/>
          <p:nvPr/>
        </p:nvSpPr>
        <p:spPr>
          <a:xfrm>
            <a:off x="594360" y="475488"/>
            <a:ext cx="89611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141F2B"/>
                </a:solidFill>
                <a:latin typeface="Arial"/>
                <a:ea typeface="Arial"/>
                <a:cs typeface="Arial"/>
                <a:sym typeface="Arial"/>
              </a:rPr>
              <a:t>System Architecture &amp; Data Flow</a:t>
            </a:r>
            <a:endParaRPr/>
          </a:p>
        </p:txBody>
      </p:sp>
      <p:sp>
        <p:nvSpPr>
          <p:cNvPr id="194" name="Google Shape;194;p16"/>
          <p:cNvSpPr txBox="1"/>
          <p:nvPr/>
        </p:nvSpPr>
        <p:spPr>
          <a:xfrm>
            <a:off x="612648" y="1005840"/>
            <a:ext cx="10424100" cy="2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cap="none" strike="noStrike">
                <a:solidFill>
                  <a:srgbClr val="CD9D48"/>
                </a:solidFill>
                <a:latin typeface="Arial"/>
                <a:ea typeface="Arial"/>
                <a:cs typeface="Arial"/>
                <a:sym typeface="Arial"/>
              </a:rPr>
              <a:t>The hotel workflow follows the entity lifecycle from guest registration to payment clearing and check-out auditing.</a:t>
            </a:r>
            <a:endParaRPr>
              <a:solidFill>
                <a:srgbClr val="CD9D48"/>
              </a:solidFill>
            </a:endParaRPr>
          </a:p>
        </p:txBody>
      </p:sp>
      <p:sp>
        <p:nvSpPr>
          <p:cNvPr id="195" name="Google Shape;195;p16"/>
          <p:cNvSpPr/>
          <p:nvPr/>
        </p:nvSpPr>
        <p:spPr>
          <a:xfrm>
            <a:off x="594360" y="1828800"/>
            <a:ext cx="2057400" cy="1325880"/>
          </a:xfrm>
          <a:prstGeom prst="roundRect">
            <a:avLst>
              <a:gd fmla="val 12000" name="adj"/>
            </a:avLst>
          </a:prstGeom>
          <a:solidFill>
            <a:srgbClr val="FFFFFF"/>
          </a:solidFill>
          <a:ln cap="flat" cmpd="sng" w="9525">
            <a:solidFill>
              <a:srgbClr val="E8ECE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16"/>
          <p:cNvSpPr/>
          <p:nvPr/>
        </p:nvSpPr>
        <p:spPr>
          <a:xfrm>
            <a:off x="594360" y="1828800"/>
            <a:ext cx="2057400" cy="73152"/>
          </a:xfrm>
          <a:prstGeom prst="rect">
            <a:avLst/>
          </a:prstGeom>
          <a:solidFill>
            <a:srgbClr val="23846A"/>
          </a:solidFill>
          <a:ln cap="flat" cmpd="sng" w="9525">
            <a:solidFill>
              <a:srgbClr val="23846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6"/>
          <p:cNvSpPr txBox="1"/>
          <p:nvPr/>
        </p:nvSpPr>
        <p:spPr>
          <a:xfrm>
            <a:off x="758952" y="2011680"/>
            <a:ext cx="384048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23846A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/>
          </a:p>
        </p:txBody>
      </p:sp>
      <p:sp>
        <p:nvSpPr>
          <p:cNvPr id="198" name="Google Shape;198;p16"/>
          <p:cNvSpPr txBox="1"/>
          <p:nvPr/>
        </p:nvSpPr>
        <p:spPr>
          <a:xfrm>
            <a:off x="758952" y="2359152"/>
            <a:ext cx="1728216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141F2B"/>
                </a:solidFill>
                <a:latin typeface="Arial"/>
                <a:ea typeface="Arial"/>
                <a:cs typeface="Arial"/>
                <a:sym typeface="Arial"/>
              </a:rPr>
              <a:t>CUSTOMERS</a:t>
            </a:r>
            <a:endParaRPr/>
          </a:p>
        </p:txBody>
      </p:sp>
      <p:sp>
        <p:nvSpPr>
          <p:cNvPr id="199" name="Google Shape;199;p16"/>
          <p:cNvSpPr txBox="1"/>
          <p:nvPr/>
        </p:nvSpPr>
        <p:spPr>
          <a:xfrm>
            <a:off x="758950" y="2587751"/>
            <a:ext cx="1728300" cy="4788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5B676F"/>
                </a:solidFill>
                <a:latin typeface="Arial"/>
                <a:ea typeface="Arial"/>
                <a:cs typeface="Arial"/>
                <a:sym typeface="Arial"/>
              </a:rPr>
              <a:t>Personal info, DOB,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city &amp; ID proof</a:t>
            </a:r>
            <a:endParaRPr/>
          </a:p>
        </p:txBody>
      </p:sp>
      <p:cxnSp>
        <p:nvCxnSpPr>
          <p:cNvPr id="200" name="Google Shape;200;p16"/>
          <p:cNvCxnSpPr/>
          <p:nvPr/>
        </p:nvCxnSpPr>
        <p:spPr>
          <a:xfrm>
            <a:off x="2651760" y="2487168"/>
            <a:ext cx="164592" cy="0"/>
          </a:xfrm>
          <a:prstGeom prst="straightConnector1">
            <a:avLst/>
          </a:prstGeom>
          <a:noFill/>
          <a:ln cap="flat" cmpd="sng" w="25400">
            <a:solidFill>
              <a:srgbClr val="23846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201" name="Google Shape;201;p16"/>
          <p:cNvSpPr/>
          <p:nvPr/>
        </p:nvSpPr>
        <p:spPr>
          <a:xfrm>
            <a:off x="2862072" y="1828800"/>
            <a:ext cx="2057400" cy="1325880"/>
          </a:xfrm>
          <a:prstGeom prst="roundRect">
            <a:avLst>
              <a:gd fmla="val 12000" name="adj"/>
            </a:avLst>
          </a:prstGeom>
          <a:solidFill>
            <a:srgbClr val="FFFFFF"/>
          </a:solidFill>
          <a:ln cap="flat" cmpd="sng" w="9525">
            <a:solidFill>
              <a:srgbClr val="E8ECE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16"/>
          <p:cNvSpPr/>
          <p:nvPr/>
        </p:nvSpPr>
        <p:spPr>
          <a:xfrm>
            <a:off x="2862072" y="1828800"/>
            <a:ext cx="2057400" cy="73152"/>
          </a:xfrm>
          <a:prstGeom prst="rect">
            <a:avLst/>
          </a:prstGeom>
          <a:solidFill>
            <a:srgbClr val="CD9D48"/>
          </a:solidFill>
          <a:ln cap="flat" cmpd="sng" w="9525">
            <a:solidFill>
              <a:srgbClr val="CD9D4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16"/>
          <p:cNvSpPr txBox="1"/>
          <p:nvPr/>
        </p:nvSpPr>
        <p:spPr>
          <a:xfrm>
            <a:off x="3026664" y="2011680"/>
            <a:ext cx="384048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CD9D48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/>
          </a:p>
        </p:txBody>
      </p:sp>
      <p:sp>
        <p:nvSpPr>
          <p:cNvPr id="204" name="Google Shape;204;p16"/>
          <p:cNvSpPr txBox="1"/>
          <p:nvPr/>
        </p:nvSpPr>
        <p:spPr>
          <a:xfrm>
            <a:off x="3026664" y="2359152"/>
            <a:ext cx="1728216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141F2B"/>
                </a:solidFill>
                <a:latin typeface="Arial"/>
                <a:ea typeface="Arial"/>
                <a:cs typeface="Arial"/>
                <a:sym typeface="Arial"/>
              </a:rPr>
              <a:t>ROOM_TYPES</a:t>
            </a:r>
            <a:endParaRPr/>
          </a:p>
        </p:txBody>
      </p:sp>
      <p:sp>
        <p:nvSpPr>
          <p:cNvPr id="205" name="Google Shape;205;p16"/>
          <p:cNvSpPr txBox="1"/>
          <p:nvPr/>
        </p:nvSpPr>
        <p:spPr>
          <a:xfrm>
            <a:off x="3026675" y="2587750"/>
            <a:ext cx="1728300" cy="4788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5B676F"/>
                </a:solidFill>
                <a:latin typeface="Arial"/>
                <a:ea typeface="Arial"/>
                <a:cs typeface="Arial"/>
                <a:sym typeface="Arial"/>
              </a:rPr>
              <a:t>Single, Deluxe, Suite,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Bed Type &amp; AC</a:t>
            </a:r>
            <a:endParaRPr/>
          </a:p>
        </p:txBody>
      </p:sp>
      <p:cxnSp>
        <p:nvCxnSpPr>
          <p:cNvPr id="206" name="Google Shape;206;p16"/>
          <p:cNvCxnSpPr/>
          <p:nvPr/>
        </p:nvCxnSpPr>
        <p:spPr>
          <a:xfrm>
            <a:off x="4919472" y="2487168"/>
            <a:ext cx="164592" cy="0"/>
          </a:xfrm>
          <a:prstGeom prst="straightConnector1">
            <a:avLst/>
          </a:prstGeom>
          <a:noFill/>
          <a:ln cap="flat" cmpd="sng" w="25400">
            <a:solidFill>
              <a:srgbClr val="23846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207" name="Google Shape;207;p16"/>
          <p:cNvSpPr/>
          <p:nvPr/>
        </p:nvSpPr>
        <p:spPr>
          <a:xfrm>
            <a:off x="5129783" y="1828800"/>
            <a:ext cx="2057400" cy="1325880"/>
          </a:xfrm>
          <a:prstGeom prst="roundRect">
            <a:avLst>
              <a:gd fmla="val 12000" name="adj"/>
            </a:avLst>
          </a:prstGeom>
          <a:solidFill>
            <a:srgbClr val="FFFFFF"/>
          </a:solidFill>
          <a:ln cap="flat" cmpd="sng" w="9525">
            <a:solidFill>
              <a:srgbClr val="E8ECE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16"/>
          <p:cNvSpPr/>
          <p:nvPr/>
        </p:nvSpPr>
        <p:spPr>
          <a:xfrm>
            <a:off x="5129783" y="1828800"/>
            <a:ext cx="2057400" cy="73152"/>
          </a:xfrm>
          <a:prstGeom prst="rect">
            <a:avLst/>
          </a:prstGeom>
          <a:solidFill>
            <a:srgbClr val="406AA6"/>
          </a:solidFill>
          <a:ln cap="flat" cmpd="sng" w="9525">
            <a:solidFill>
              <a:srgbClr val="406AA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16"/>
          <p:cNvSpPr txBox="1"/>
          <p:nvPr/>
        </p:nvSpPr>
        <p:spPr>
          <a:xfrm>
            <a:off x="5294375" y="2011680"/>
            <a:ext cx="384048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406AA6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/>
          </a:p>
        </p:txBody>
      </p:sp>
      <p:sp>
        <p:nvSpPr>
          <p:cNvPr id="210" name="Google Shape;210;p16"/>
          <p:cNvSpPr txBox="1"/>
          <p:nvPr/>
        </p:nvSpPr>
        <p:spPr>
          <a:xfrm>
            <a:off x="5294375" y="2359152"/>
            <a:ext cx="1728216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141F2B"/>
                </a:solidFill>
                <a:latin typeface="Arial"/>
                <a:ea typeface="Arial"/>
                <a:cs typeface="Arial"/>
                <a:sym typeface="Arial"/>
              </a:rPr>
              <a:t>ROOMS</a:t>
            </a:r>
            <a:endParaRPr/>
          </a:p>
        </p:txBody>
      </p:sp>
      <p:sp>
        <p:nvSpPr>
          <p:cNvPr id="211" name="Google Shape;211;p16"/>
          <p:cNvSpPr txBox="1"/>
          <p:nvPr/>
        </p:nvSpPr>
        <p:spPr>
          <a:xfrm>
            <a:off x="5294675" y="2523950"/>
            <a:ext cx="17283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5B676F"/>
                </a:solidFill>
                <a:latin typeface="Arial"/>
                <a:ea typeface="Arial"/>
                <a:cs typeface="Arial"/>
                <a:sym typeface="Arial"/>
              </a:rPr>
              <a:t>Floor, view type,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maintenance dates</a:t>
            </a:r>
            <a:endParaRPr/>
          </a:p>
        </p:txBody>
      </p:sp>
      <p:cxnSp>
        <p:nvCxnSpPr>
          <p:cNvPr id="212" name="Google Shape;212;p16"/>
          <p:cNvCxnSpPr/>
          <p:nvPr/>
        </p:nvCxnSpPr>
        <p:spPr>
          <a:xfrm>
            <a:off x="7187183" y="2487168"/>
            <a:ext cx="164592" cy="0"/>
          </a:xfrm>
          <a:prstGeom prst="straightConnector1">
            <a:avLst/>
          </a:prstGeom>
          <a:noFill/>
          <a:ln cap="flat" cmpd="sng" w="25400">
            <a:solidFill>
              <a:srgbClr val="23846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213" name="Google Shape;213;p16"/>
          <p:cNvSpPr/>
          <p:nvPr/>
        </p:nvSpPr>
        <p:spPr>
          <a:xfrm>
            <a:off x="7397496" y="1828800"/>
            <a:ext cx="2057400" cy="1325880"/>
          </a:xfrm>
          <a:prstGeom prst="roundRect">
            <a:avLst>
              <a:gd fmla="val 12000" name="adj"/>
            </a:avLst>
          </a:prstGeom>
          <a:solidFill>
            <a:srgbClr val="FFFFFF"/>
          </a:solidFill>
          <a:ln cap="flat" cmpd="sng" w="9525">
            <a:solidFill>
              <a:srgbClr val="E8ECE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16"/>
          <p:cNvSpPr/>
          <p:nvPr/>
        </p:nvSpPr>
        <p:spPr>
          <a:xfrm>
            <a:off x="7397496" y="1828800"/>
            <a:ext cx="2057400" cy="73152"/>
          </a:xfrm>
          <a:prstGeom prst="rect">
            <a:avLst/>
          </a:prstGeom>
          <a:solidFill>
            <a:srgbClr val="166752"/>
          </a:solidFill>
          <a:ln cap="flat" cmpd="sng" w="9525">
            <a:solidFill>
              <a:srgbClr val="16675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16"/>
          <p:cNvSpPr txBox="1"/>
          <p:nvPr/>
        </p:nvSpPr>
        <p:spPr>
          <a:xfrm>
            <a:off x="7562088" y="2011680"/>
            <a:ext cx="384048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16675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/>
          </a:p>
        </p:txBody>
      </p:sp>
      <p:sp>
        <p:nvSpPr>
          <p:cNvPr id="216" name="Google Shape;216;p16"/>
          <p:cNvSpPr txBox="1"/>
          <p:nvPr/>
        </p:nvSpPr>
        <p:spPr>
          <a:xfrm>
            <a:off x="7562088" y="2359152"/>
            <a:ext cx="1728216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141F2B"/>
                </a:solidFill>
                <a:latin typeface="Arial"/>
                <a:ea typeface="Arial"/>
                <a:cs typeface="Arial"/>
                <a:sym typeface="Arial"/>
              </a:rPr>
              <a:t>BOOKINGS</a:t>
            </a:r>
            <a:endParaRPr/>
          </a:p>
        </p:txBody>
      </p:sp>
      <p:sp>
        <p:nvSpPr>
          <p:cNvPr id="217" name="Google Shape;217;p16"/>
          <p:cNvSpPr txBox="1"/>
          <p:nvPr/>
        </p:nvSpPr>
        <p:spPr>
          <a:xfrm>
            <a:off x="7562200" y="2587750"/>
            <a:ext cx="1728300" cy="7095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5B676F"/>
                </a:solidFill>
                <a:latin typeface="Arial"/>
                <a:ea typeface="Arial"/>
                <a:cs typeface="Arial"/>
                <a:sym typeface="Arial"/>
              </a:rPr>
              <a:t>Stay dates, guest count,</a:t>
            </a:r>
            <a:br>
              <a:rPr b="0" i="0" lang="en-US" sz="1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total amount trigger</a:t>
            </a:r>
            <a:endParaRPr sz="1300"/>
          </a:p>
        </p:txBody>
      </p:sp>
      <p:cxnSp>
        <p:nvCxnSpPr>
          <p:cNvPr id="218" name="Google Shape;218;p16"/>
          <p:cNvCxnSpPr/>
          <p:nvPr/>
        </p:nvCxnSpPr>
        <p:spPr>
          <a:xfrm>
            <a:off x="9454896" y="2487168"/>
            <a:ext cx="164592" cy="0"/>
          </a:xfrm>
          <a:prstGeom prst="straightConnector1">
            <a:avLst/>
          </a:prstGeom>
          <a:noFill/>
          <a:ln cap="flat" cmpd="sng" w="25400">
            <a:solidFill>
              <a:srgbClr val="23846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219" name="Google Shape;219;p16"/>
          <p:cNvSpPr/>
          <p:nvPr/>
        </p:nvSpPr>
        <p:spPr>
          <a:xfrm>
            <a:off x="9665208" y="1828800"/>
            <a:ext cx="2057400" cy="1325880"/>
          </a:xfrm>
          <a:prstGeom prst="roundRect">
            <a:avLst>
              <a:gd fmla="val 12000" name="adj"/>
            </a:avLst>
          </a:prstGeom>
          <a:solidFill>
            <a:srgbClr val="FFFFFF"/>
          </a:solidFill>
          <a:ln cap="flat" cmpd="sng" w="9525">
            <a:solidFill>
              <a:srgbClr val="E8ECE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16"/>
          <p:cNvSpPr/>
          <p:nvPr/>
        </p:nvSpPr>
        <p:spPr>
          <a:xfrm>
            <a:off x="9665208" y="1828800"/>
            <a:ext cx="2057400" cy="73152"/>
          </a:xfrm>
          <a:prstGeom prst="rect">
            <a:avLst/>
          </a:prstGeom>
          <a:solidFill>
            <a:srgbClr val="CD9D48"/>
          </a:solidFill>
          <a:ln cap="flat" cmpd="sng" w="9525">
            <a:solidFill>
              <a:srgbClr val="CD9D4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16"/>
          <p:cNvSpPr txBox="1"/>
          <p:nvPr/>
        </p:nvSpPr>
        <p:spPr>
          <a:xfrm>
            <a:off x="9829800" y="2011680"/>
            <a:ext cx="384048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CD9D48"/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  <a:endParaRPr/>
          </a:p>
        </p:txBody>
      </p:sp>
      <p:sp>
        <p:nvSpPr>
          <p:cNvPr id="222" name="Google Shape;222;p16"/>
          <p:cNvSpPr txBox="1"/>
          <p:nvPr/>
        </p:nvSpPr>
        <p:spPr>
          <a:xfrm>
            <a:off x="9829800" y="2359152"/>
            <a:ext cx="1728216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141F2B"/>
                </a:solidFill>
                <a:latin typeface="Arial"/>
                <a:ea typeface="Arial"/>
                <a:cs typeface="Arial"/>
                <a:sym typeface="Arial"/>
              </a:rPr>
              <a:t>PAYMENTS / OPS</a:t>
            </a:r>
            <a:endParaRPr/>
          </a:p>
        </p:txBody>
      </p:sp>
      <p:sp>
        <p:nvSpPr>
          <p:cNvPr id="223" name="Google Shape;223;p16"/>
          <p:cNvSpPr txBox="1"/>
          <p:nvPr/>
        </p:nvSpPr>
        <p:spPr>
          <a:xfrm>
            <a:off x="9830000" y="2623850"/>
            <a:ext cx="1728300" cy="7095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5B676F"/>
                </a:solidFill>
                <a:latin typeface="Arial"/>
                <a:ea typeface="Arial"/>
                <a:cs typeface="Arial"/>
                <a:sym typeface="Arial"/>
              </a:rPr>
              <a:t>UPI/Card + check-in/</a:t>
            </a:r>
            <a:br>
              <a:rPr b="0" i="0" lang="en-US" sz="1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check-out timestamps</a:t>
            </a:r>
            <a:endParaRPr sz="1300"/>
          </a:p>
        </p:txBody>
      </p:sp>
      <p:sp>
        <p:nvSpPr>
          <p:cNvPr id="224" name="Google Shape;224;p16"/>
          <p:cNvSpPr/>
          <p:nvPr/>
        </p:nvSpPr>
        <p:spPr>
          <a:xfrm>
            <a:off x="594360" y="3520440"/>
            <a:ext cx="5321808" cy="1938528"/>
          </a:xfrm>
          <a:prstGeom prst="roundRect">
            <a:avLst>
              <a:gd fmla="val 12000" name="adj"/>
            </a:avLst>
          </a:prstGeom>
          <a:solidFill>
            <a:srgbClr val="141F2B"/>
          </a:solidFill>
          <a:ln cap="flat" cmpd="sng" w="9525">
            <a:solidFill>
              <a:srgbClr val="141F2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16"/>
          <p:cNvSpPr txBox="1"/>
          <p:nvPr/>
        </p:nvSpPr>
        <p:spPr>
          <a:xfrm>
            <a:off x="841248" y="3767328"/>
            <a:ext cx="33832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CD9D48"/>
                </a:solidFill>
                <a:latin typeface="Arial"/>
                <a:ea typeface="Arial"/>
                <a:cs typeface="Arial"/>
                <a:sym typeface="Arial"/>
              </a:rPr>
              <a:t>BOOKING &amp; TARIFF CALCULATION</a:t>
            </a:r>
            <a:endParaRPr/>
          </a:p>
        </p:txBody>
      </p:sp>
      <p:sp>
        <p:nvSpPr>
          <p:cNvPr id="226" name="Google Shape;226;p16"/>
          <p:cNvSpPr txBox="1"/>
          <p:nvPr/>
        </p:nvSpPr>
        <p:spPr>
          <a:xfrm>
            <a:off x="841248" y="4160520"/>
            <a:ext cx="4663440" cy="658368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When a booking is scheduled, MySQL triggers query Price_Per_Night from rooms and multiply it by calculated nights (Check_Out_Date - Check_In_Date).</a:t>
            </a:r>
            <a:endParaRPr/>
          </a:p>
        </p:txBody>
      </p:sp>
      <p:sp>
        <p:nvSpPr>
          <p:cNvPr id="227" name="Google Shape;227;p16"/>
          <p:cNvSpPr/>
          <p:nvPr/>
        </p:nvSpPr>
        <p:spPr>
          <a:xfrm>
            <a:off x="6199632" y="3520440"/>
            <a:ext cx="5394960" cy="1938528"/>
          </a:xfrm>
          <a:prstGeom prst="roundRect">
            <a:avLst>
              <a:gd fmla="val 12000" name="adj"/>
            </a:avLst>
          </a:prstGeom>
          <a:solidFill>
            <a:srgbClr val="166752"/>
          </a:solidFill>
          <a:ln cap="flat" cmpd="sng" w="9525">
            <a:solidFill>
              <a:srgbClr val="16675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16"/>
          <p:cNvSpPr txBox="1"/>
          <p:nvPr/>
        </p:nvSpPr>
        <p:spPr>
          <a:xfrm>
            <a:off x="6446520" y="3767328"/>
            <a:ext cx="3840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EEDAAE"/>
                </a:solidFill>
                <a:latin typeface="Arial"/>
                <a:ea typeface="Arial"/>
                <a:cs typeface="Arial"/>
                <a:sym typeface="Arial"/>
              </a:rPr>
              <a:t>PAYMENT CONFIRMATION &amp; DEPARTURE</a:t>
            </a:r>
            <a:endParaRPr/>
          </a:p>
        </p:txBody>
      </p:sp>
      <p:sp>
        <p:nvSpPr>
          <p:cNvPr id="229" name="Google Shape;229;p16"/>
          <p:cNvSpPr txBox="1"/>
          <p:nvPr/>
        </p:nvSpPr>
        <p:spPr>
          <a:xfrm>
            <a:off x="6446520" y="4160520"/>
            <a:ext cx="4709160" cy="658368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Successful payment entries switch reservation status to 'Confirmed', while front desk arrival is stamped inside the check_in_out audit relation.</a:t>
            </a:r>
            <a:endParaRPr/>
          </a:p>
        </p:txBody>
      </p:sp>
      <p:sp>
        <p:nvSpPr>
          <p:cNvPr id="230" name="Google Shape;230;p16"/>
          <p:cNvSpPr txBox="1"/>
          <p:nvPr/>
        </p:nvSpPr>
        <p:spPr>
          <a:xfrm>
            <a:off x="594360" y="6510528"/>
            <a:ext cx="43891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5B676F"/>
                </a:solidFill>
                <a:latin typeface="Arial"/>
                <a:ea typeface="Arial"/>
                <a:cs typeface="Arial"/>
                <a:sym typeface="Arial"/>
              </a:rPr>
              <a:t>TEAM 15  •  HOTEL MANAGEMENT SYSTEM</a:t>
            </a:r>
            <a:endParaRPr/>
          </a:p>
        </p:txBody>
      </p:sp>
      <p:sp>
        <p:nvSpPr>
          <p:cNvPr id="231" name="Google Shape;231;p16"/>
          <p:cNvSpPr txBox="1"/>
          <p:nvPr/>
        </p:nvSpPr>
        <p:spPr>
          <a:xfrm>
            <a:off x="10835640" y="6492240"/>
            <a:ext cx="749808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5B676F"/>
                </a:solidFill>
                <a:latin typeface="Arial"/>
                <a:ea typeface="Arial"/>
                <a:cs typeface="Arial"/>
                <a:sym typeface="Arial"/>
              </a:rPr>
              <a:t>04 / 13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6" name="Google Shape;236;p17" title="WhatsApp Image 2026-09-08 at 9.01.09 AM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34225" y="304800"/>
            <a:ext cx="9829801" cy="65532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6F1"/>
        </a:solidFill>
      </p:bgPr>
    </p:bg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8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3846A"/>
          </a:solidFill>
          <a:ln cap="flat" cmpd="sng" w="9525">
            <a:solidFill>
              <a:srgbClr val="23846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18"/>
          <p:cNvSpPr/>
          <p:nvPr/>
        </p:nvSpPr>
        <p:spPr>
          <a:xfrm>
            <a:off x="11475720" y="0"/>
            <a:ext cx="713232" cy="73152"/>
          </a:xfrm>
          <a:prstGeom prst="rect">
            <a:avLst/>
          </a:prstGeom>
          <a:solidFill>
            <a:srgbClr val="CD9D48"/>
          </a:solidFill>
          <a:ln cap="flat" cmpd="sng" w="9525">
            <a:solidFill>
              <a:srgbClr val="CD9D4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18"/>
          <p:cNvSpPr txBox="1"/>
          <p:nvPr/>
        </p:nvSpPr>
        <p:spPr>
          <a:xfrm>
            <a:off x="594360" y="475488"/>
            <a:ext cx="89611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141F2B"/>
                </a:solidFill>
                <a:latin typeface="Arial"/>
                <a:ea typeface="Arial"/>
                <a:cs typeface="Arial"/>
                <a:sym typeface="Arial"/>
              </a:rPr>
              <a:t>Entity-Relationship (ER) Diagram</a:t>
            </a:r>
            <a:endParaRPr/>
          </a:p>
        </p:txBody>
      </p:sp>
      <p:sp>
        <p:nvSpPr>
          <p:cNvPr id="244" name="Google Shape;244;p18"/>
          <p:cNvSpPr txBox="1"/>
          <p:nvPr/>
        </p:nvSpPr>
        <p:spPr>
          <a:xfrm>
            <a:off x="612648" y="1005840"/>
            <a:ext cx="10424100" cy="2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TEAM 15 PROJECT ARTIFACT  •  HOTEL BOOKING SYSTEM ER MODEL &amp; RELATIONAL TABLES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245" name="Google Shape;245;p18"/>
          <p:cNvSpPr/>
          <p:nvPr/>
        </p:nvSpPr>
        <p:spPr>
          <a:xfrm>
            <a:off x="658368" y="1627632"/>
            <a:ext cx="731520" cy="329184"/>
          </a:xfrm>
          <a:prstGeom prst="roundRect">
            <a:avLst>
              <a:gd fmla="val 12000" name="adj"/>
            </a:avLst>
          </a:prstGeom>
          <a:solidFill>
            <a:srgbClr val="141F2B"/>
          </a:solidFill>
          <a:ln cap="flat" cmpd="sng" w="9525">
            <a:solidFill>
              <a:srgbClr val="141F2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18"/>
          <p:cNvSpPr txBox="1"/>
          <p:nvPr/>
        </p:nvSpPr>
        <p:spPr>
          <a:xfrm>
            <a:off x="1463040" y="1673352"/>
            <a:ext cx="5943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141F2B"/>
                </a:solidFill>
                <a:latin typeface="Arial"/>
                <a:ea typeface="Arial"/>
                <a:cs typeface="Arial"/>
                <a:sym typeface="Arial"/>
              </a:rPr>
              <a:t>Entity</a:t>
            </a:r>
            <a:endParaRPr/>
          </a:p>
        </p:txBody>
      </p:sp>
      <p:sp>
        <p:nvSpPr>
          <p:cNvPr id="247" name="Google Shape;247;p18"/>
          <p:cNvSpPr/>
          <p:nvPr/>
        </p:nvSpPr>
        <p:spPr>
          <a:xfrm>
            <a:off x="2167128" y="1627632"/>
            <a:ext cx="731520" cy="329184"/>
          </a:xfrm>
          <a:prstGeom prst="rect">
            <a:avLst/>
          </a:prstGeom>
          <a:solidFill>
            <a:srgbClr val="CD9D48"/>
          </a:solidFill>
          <a:ln cap="flat" cmpd="sng" w="9525">
            <a:solidFill>
              <a:srgbClr val="CD9D4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18"/>
          <p:cNvSpPr txBox="1"/>
          <p:nvPr/>
        </p:nvSpPr>
        <p:spPr>
          <a:xfrm>
            <a:off x="2971800" y="1673352"/>
            <a:ext cx="5943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141F2B"/>
                </a:solidFill>
                <a:latin typeface="Arial"/>
                <a:ea typeface="Arial"/>
                <a:cs typeface="Arial"/>
                <a:sym typeface="Arial"/>
              </a:rPr>
              <a:t>Relationship</a:t>
            </a:r>
            <a:endParaRPr/>
          </a:p>
        </p:txBody>
      </p:sp>
      <p:sp>
        <p:nvSpPr>
          <p:cNvPr id="249" name="Google Shape;249;p18"/>
          <p:cNvSpPr/>
          <p:nvPr/>
        </p:nvSpPr>
        <p:spPr>
          <a:xfrm>
            <a:off x="3675887" y="1627632"/>
            <a:ext cx="731520" cy="329184"/>
          </a:xfrm>
          <a:prstGeom prst="roundRect">
            <a:avLst>
              <a:gd fmla="val 12000" name="adj"/>
            </a:avLst>
          </a:prstGeom>
          <a:solidFill>
            <a:srgbClr val="23846A"/>
          </a:solidFill>
          <a:ln cap="flat" cmpd="sng" w="9525">
            <a:solidFill>
              <a:srgbClr val="23846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18"/>
          <p:cNvSpPr txBox="1"/>
          <p:nvPr/>
        </p:nvSpPr>
        <p:spPr>
          <a:xfrm>
            <a:off x="4480559" y="1673352"/>
            <a:ext cx="5943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141F2B"/>
                </a:solidFill>
                <a:latin typeface="Arial"/>
                <a:ea typeface="Arial"/>
                <a:cs typeface="Arial"/>
                <a:sym typeface="Arial"/>
              </a:rPr>
              <a:t>PK</a:t>
            </a:r>
            <a:endParaRPr/>
          </a:p>
        </p:txBody>
      </p:sp>
      <p:sp>
        <p:nvSpPr>
          <p:cNvPr id="251" name="Google Shape;251;p18"/>
          <p:cNvSpPr/>
          <p:nvPr/>
        </p:nvSpPr>
        <p:spPr>
          <a:xfrm>
            <a:off x="5184647" y="1627632"/>
            <a:ext cx="731520" cy="329184"/>
          </a:xfrm>
          <a:prstGeom prst="roundRect">
            <a:avLst>
              <a:gd fmla="val 12000" name="adj"/>
            </a:avLst>
          </a:prstGeom>
          <a:solidFill>
            <a:srgbClr val="406AA6"/>
          </a:solidFill>
          <a:ln cap="flat" cmpd="sng" w="9525">
            <a:solidFill>
              <a:srgbClr val="406AA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18"/>
          <p:cNvSpPr txBox="1"/>
          <p:nvPr/>
        </p:nvSpPr>
        <p:spPr>
          <a:xfrm>
            <a:off x="5989319" y="1673352"/>
            <a:ext cx="5943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141F2B"/>
                </a:solidFill>
                <a:latin typeface="Arial"/>
                <a:ea typeface="Arial"/>
                <a:cs typeface="Arial"/>
                <a:sym typeface="Arial"/>
              </a:rPr>
              <a:t>FK</a:t>
            </a:r>
            <a:endParaRPr/>
          </a:p>
        </p:txBody>
      </p:sp>
      <p:sp>
        <p:nvSpPr>
          <p:cNvPr id="253" name="Google Shape;253;p18"/>
          <p:cNvSpPr/>
          <p:nvPr/>
        </p:nvSpPr>
        <p:spPr>
          <a:xfrm>
            <a:off x="731520" y="2240280"/>
            <a:ext cx="2240280" cy="1143000"/>
          </a:xfrm>
          <a:prstGeom prst="roundRect">
            <a:avLst>
              <a:gd fmla="val 12000" name="adj"/>
            </a:avLst>
          </a:prstGeom>
          <a:solidFill>
            <a:srgbClr val="FFFFFF"/>
          </a:solidFill>
          <a:ln cap="flat" cmpd="sng" w="9525">
            <a:solidFill>
              <a:srgbClr val="E8ECE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18"/>
          <p:cNvSpPr/>
          <p:nvPr/>
        </p:nvSpPr>
        <p:spPr>
          <a:xfrm>
            <a:off x="731520" y="2240280"/>
            <a:ext cx="2240280" cy="329184"/>
          </a:xfrm>
          <a:prstGeom prst="rect">
            <a:avLst/>
          </a:prstGeom>
          <a:solidFill>
            <a:srgbClr val="141F2B"/>
          </a:solidFill>
          <a:ln cap="flat" cmpd="sng" w="9525">
            <a:solidFill>
              <a:srgbClr val="141F2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18"/>
          <p:cNvSpPr txBox="1"/>
          <p:nvPr/>
        </p:nvSpPr>
        <p:spPr>
          <a:xfrm>
            <a:off x="859536" y="2313432"/>
            <a:ext cx="1984248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Customers</a:t>
            </a:r>
            <a:endParaRPr/>
          </a:p>
        </p:txBody>
      </p:sp>
      <p:sp>
        <p:nvSpPr>
          <p:cNvPr id="256" name="Google Shape;256;p18"/>
          <p:cNvSpPr txBox="1"/>
          <p:nvPr/>
        </p:nvSpPr>
        <p:spPr>
          <a:xfrm>
            <a:off x="859536" y="2697480"/>
            <a:ext cx="1984248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30" u="none" cap="none" strike="noStrike">
                <a:solidFill>
                  <a:srgbClr val="232B32"/>
                </a:solidFill>
                <a:latin typeface="Arial"/>
                <a:ea typeface="Arial"/>
                <a:cs typeface="Arial"/>
                <a:sym typeface="Arial"/>
              </a:rPr>
              <a:t>Customer_ID  (PK)</a:t>
            </a:r>
            <a:endParaRPr/>
          </a:p>
        </p:txBody>
      </p:sp>
      <p:sp>
        <p:nvSpPr>
          <p:cNvPr id="257" name="Google Shape;257;p18"/>
          <p:cNvSpPr txBox="1"/>
          <p:nvPr/>
        </p:nvSpPr>
        <p:spPr>
          <a:xfrm>
            <a:off x="859536" y="2907792"/>
            <a:ext cx="1984248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30" u="none" cap="none" strike="noStrike">
                <a:solidFill>
                  <a:srgbClr val="232B32"/>
                </a:solidFill>
                <a:latin typeface="Arial"/>
                <a:ea typeface="Arial"/>
                <a:cs typeface="Arial"/>
                <a:sym typeface="Arial"/>
              </a:rPr>
              <a:t>Names • Contact • Address</a:t>
            </a:r>
            <a:endParaRPr/>
          </a:p>
        </p:txBody>
      </p:sp>
      <p:sp>
        <p:nvSpPr>
          <p:cNvPr id="258" name="Google Shape;258;p18"/>
          <p:cNvSpPr txBox="1"/>
          <p:nvPr/>
        </p:nvSpPr>
        <p:spPr>
          <a:xfrm>
            <a:off x="859536" y="3118104"/>
            <a:ext cx="1984248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30" u="none" cap="none" strike="noStrike">
                <a:solidFill>
                  <a:srgbClr val="232B32"/>
                </a:solidFill>
                <a:latin typeface="Arial"/>
                <a:ea typeface="Arial"/>
                <a:cs typeface="Arial"/>
                <a:sym typeface="Arial"/>
              </a:rPr>
              <a:t>DOB • ID Proof</a:t>
            </a:r>
            <a:endParaRPr/>
          </a:p>
        </p:txBody>
      </p:sp>
      <p:sp>
        <p:nvSpPr>
          <p:cNvPr id="259" name="Google Shape;259;p18"/>
          <p:cNvSpPr/>
          <p:nvPr/>
        </p:nvSpPr>
        <p:spPr>
          <a:xfrm>
            <a:off x="4956048" y="2240280"/>
            <a:ext cx="2240280" cy="1143000"/>
          </a:xfrm>
          <a:prstGeom prst="roundRect">
            <a:avLst>
              <a:gd fmla="val 12000" name="adj"/>
            </a:avLst>
          </a:prstGeom>
          <a:solidFill>
            <a:srgbClr val="FFFFFF"/>
          </a:solidFill>
          <a:ln cap="flat" cmpd="sng" w="9525">
            <a:solidFill>
              <a:srgbClr val="E8ECE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18"/>
          <p:cNvSpPr/>
          <p:nvPr/>
        </p:nvSpPr>
        <p:spPr>
          <a:xfrm>
            <a:off x="4956048" y="2240280"/>
            <a:ext cx="2240280" cy="329184"/>
          </a:xfrm>
          <a:prstGeom prst="rect">
            <a:avLst/>
          </a:prstGeom>
          <a:solidFill>
            <a:srgbClr val="141F2B"/>
          </a:solidFill>
          <a:ln cap="flat" cmpd="sng" w="9525">
            <a:solidFill>
              <a:srgbClr val="141F2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18"/>
          <p:cNvSpPr txBox="1"/>
          <p:nvPr/>
        </p:nvSpPr>
        <p:spPr>
          <a:xfrm>
            <a:off x="5084064" y="2313432"/>
            <a:ext cx="1984248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Room_Types</a:t>
            </a:r>
            <a:endParaRPr/>
          </a:p>
        </p:txBody>
      </p:sp>
      <p:sp>
        <p:nvSpPr>
          <p:cNvPr id="262" name="Google Shape;262;p18"/>
          <p:cNvSpPr txBox="1"/>
          <p:nvPr/>
        </p:nvSpPr>
        <p:spPr>
          <a:xfrm>
            <a:off x="5084064" y="2697480"/>
            <a:ext cx="1984248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30" u="none" cap="none" strike="noStrike">
                <a:solidFill>
                  <a:srgbClr val="232B32"/>
                </a:solidFill>
                <a:latin typeface="Arial"/>
                <a:ea typeface="Arial"/>
                <a:cs typeface="Arial"/>
                <a:sym typeface="Arial"/>
              </a:rPr>
              <a:t>Type_ID  (PK)</a:t>
            </a:r>
            <a:endParaRPr/>
          </a:p>
        </p:txBody>
      </p:sp>
      <p:sp>
        <p:nvSpPr>
          <p:cNvPr id="263" name="Google Shape;263;p18"/>
          <p:cNvSpPr txBox="1"/>
          <p:nvPr/>
        </p:nvSpPr>
        <p:spPr>
          <a:xfrm>
            <a:off x="5084064" y="2907792"/>
            <a:ext cx="1984248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30" u="none" cap="none" strike="noStrike">
                <a:solidFill>
                  <a:srgbClr val="232B32"/>
                </a:solidFill>
                <a:latin typeface="Arial"/>
                <a:ea typeface="Arial"/>
                <a:cs typeface="Arial"/>
                <a:sym typeface="Arial"/>
              </a:rPr>
              <a:t>Bed Type • Max Occupancy</a:t>
            </a:r>
            <a:endParaRPr/>
          </a:p>
        </p:txBody>
      </p:sp>
      <p:sp>
        <p:nvSpPr>
          <p:cNvPr id="264" name="Google Shape;264;p18"/>
          <p:cNvSpPr txBox="1"/>
          <p:nvPr/>
        </p:nvSpPr>
        <p:spPr>
          <a:xfrm>
            <a:off x="5084064" y="3118104"/>
            <a:ext cx="1984248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30" u="none" cap="none" strike="noStrike">
                <a:solidFill>
                  <a:srgbClr val="232B32"/>
                </a:solidFill>
                <a:latin typeface="Arial"/>
                <a:ea typeface="Arial"/>
                <a:cs typeface="Arial"/>
                <a:sym typeface="Arial"/>
              </a:rPr>
              <a:t>Area sqft • AC • Base Price</a:t>
            </a:r>
            <a:endParaRPr/>
          </a:p>
        </p:txBody>
      </p:sp>
      <p:sp>
        <p:nvSpPr>
          <p:cNvPr id="265" name="Google Shape;265;p18"/>
          <p:cNvSpPr/>
          <p:nvPr/>
        </p:nvSpPr>
        <p:spPr>
          <a:xfrm>
            <a:off x="9125712" y="2240280"/>
            <a:ext cx="2240280" cy="1143000"/>
          </a:xfrm>
          <a:prstGeom prst="roundRect">
            <a:avLst>
              <a:gd fmla="val 12000" name="adj"/>
            </a:avLst>
          </a:prstGeom>
          <a:solidFill>
            <a:srgbClr val="FFFFFF"/>
          </a:solidFill>
          <a:ln cap="flat" cmpd="sng" w="9525">
            <a:solidFill>
              <a:srgbClr val="E8ECE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18"/>
          <p:cNvSpPr/>
          <p:nvPr/>
        </p:nvSpPr>
        <p:spPr>
          <a:xfrm>
            <a:off x="9125712" y="2240280"/>
            <a:ext cx="2240280" cy="329184"/>
          </a:xfrm>
          <a:prstGeom prst="rect">
            <a:avLst/>
          </a:prstGeom>
          <a:solidFill>
            <a:srgbClr val="141F2B"/>
          </a:solidFill>
          <a:ln cap="flat" cmpd="sng" w="9525">
            <a:solidFill>
              <a:srgbClr val="141F2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18"/>
          <p:cNvSpPr txBox="1"/>
          <p:nvPr/>
        </p:nvSpPr>
        <p:spPr>
          <a:xfrm>
            <a:off x="9253728" y="2313432"/>
            <a:ext cx="1984248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Rooms</a:t>
            </a:r>
            <a:endParaRPr/>
          </a:p>
        </p:txBody>
      </p:sp>
      <p:sp>
        <p:nvSpPr>
          <p:cNvPr id="268" name="Google Shape;268;p18"/>
          <p:cNvSpPr txBox="1"/>
          <p:nvPr/>
        </p:nvSpPr>
        <p:spPr>
          <a:xfrm>
            <a:off x="9253728" y="2697480"/>
            <a:ext cx="1984248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30" u="none" cap="none" strike="noStrike">
                <a:solidFill>
                  <a:srgbClr val="232B32"/>
                </a:solidFill>
                <a:latin typeface="Arial"/>
                <a:ea typeface="Arial"/>
                <a:cs typeface="Arial"/>
                <a:sym typeface="Arial"/>
              </a:rPr>
              <a:t>Room_ID  (PK)</a:t>
            </a:r>
            <a:endParaRPr/>
          </a:p>
        </p:txBody>
      </p:sp>
      <p:sp>
        <p:nvSpPr>
          <p:cNvPr id="269" name="Google Shape;269;p18"/>
          <p:cNvSpPr txBox="1"/>
          <p:nvPr/>
        </p:nvSpPr>
        <p:spPr>
          <a:xfrm>
            <a:off x="9253728" y="2907792"/>
            <a:ext cx="1984248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30" u="none" cap="none" strike="noStrike">
                <a:solidFill>
                  <a:srgbClr val="232B32"/>
                </a:solidFill>
                <a:latin typeface="Arial"/>
                <a:ea typeface="Arial"/>
                <a:cs typeface="Arial"/>
                <a:sym typeface="Arial"/>
              </a:rPr>
              <a:t>Room No • Floor • Status</a:t>
            </a:r>
            <a:endParaRPr/>
          </a:p>
        </p:txBody>
      </p:sp>
      <p:sp>
        <p:nvSpPr>
          <p:cNvPr id="270" name="Google Shape;270;p18"/>
          <p:cNvSpPr txBox="1"/>
          <p:nvPr/>
        </p:nvSpPr>
        <p:spPr>
          <a:xfrm>
            <a:off x="9253728" y="3118104"/>
            <a:ext cx="1984248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30" u="none" cap="none" strike="noStrike">
                <a:solidFill>
                  <a:srgbClr val="232B32"/>
                </a:solidFill>
                <a:latin typeface="Arial"/>
                <a:ea typeface="Arial"/>
                <a:cs typeface="Arial"/>
                <a:sym typeface="Arial"/>
              </a:rPr>
              <a:t>View Type • Type_ID (FK)</a:t>
            </a:r>
            <a:endParaRPr/>
          </a:p>
        </p:txBody>
      </p:sp>
      <p:sp>
        <p:nvSpPr>
          <p:cNvPr id="271" name="Google Shape;271;p18"/>
          <p:cNvSpPr/>
          <p:nvPr/>
        </p:nvSpPr>
        <p:spPr>
          <a:xfrm>
            <a:off x="731520" y="4709160"/>
            <a:ext cx="2240280" cy="1143000"/>
          </a:xfrm>
          <a:prstGeom prst="roundRect">
            <a:avLst>
              <a:gd fmla="val 12000" name="adj"/>
            </a:avLst>
          </a:prstGeom>
          <a:solidFill>
            <a:srgbClr val="FFFFFF"/>
          </a:solidFill>
          <a:ln cap="flat" cmpd="sng" w="9525">
            <a:solidFill>
              <a:srgbClr val="E8ECE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18"/>
          <p:cNvSpPr/>
          <p:nvPr/>
        </p:nvSpPr>
        <p:spPr>
          <a:xfrm>
            <a:off x="731520" y="4709160"/>
            <a:ext cx="2240280" cy="329184"/>
          </a:xfrm>
          <a:prstGeom prst="rect">
            <a:avLst/>
          </a:prstGeom>
          <a:solidFill>
            <a:srgbClr val="141F2B"/>
          </a:solidFill>
          <a:ln cap="flat" cmpd="sng" w="9525">
            <a:solidFill>
              <a:srgbClr val="141F2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18"/>
          <p:cNvSpPr txBox="1"/>
          <p:nvPr/>
        </p:nvSpPr>
        <p:spPr>
          <a:xfrm>
            <a:off x="859536" y="4782312"/>
            <a:ext cx="1984248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Bookings</a:t>
            </a:r>
            <a:endParaRPr/>
          </a:p>
        </p:txBody>
      </p:sp>
      <p:sp>
        <p:nvSpPr>
          <p:cNvPr id="274" name="Google Shape;274;p18"/>
          <p:cNvSpPr txBox="1"/>
          <p:nvPr/>
        </p:nvSpPr>
        <p:spPr>
          <a:xfrm>
            <a:off x="859536" y="5166360"/>
            <a:ext cx="1984248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30" u="none" cap="none" strike="noStrike">
                <a:solidFill>
                  <a:srgbClr val="232B32"/>
                </a:solidFill>
                <a:latin typeface="Arial"/>
                <a:ea typeface="Arial"/>
                <a:cs typeface="Arial"/>
                <a:sym typeface="Arial"/>
              </a:rPr>
              <a:t>Booking_ID  (PK)</a:t>
            </a:r>
            <a:endParaRPr/>
          </a:p>
        </p:txBody>
      </p:sp>
      <p:sp>
        <p:nvSpPr>
          <p:cNvPr id="275" name="Google Shape;275;p18"/>
          <p:cNvSpPr txBox="1"/>
          <p:nvPr/>
        </p:nvSpPr>
        <p:spPr>
          <a:xfrm>
            <a:off x="859536" y="5376672"/>
            <a:ext cx="1984248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30" u="none" cap="none" strike="noStrike">
                <a:solidFill>
                  <a:srgbClr val="232B32"/>
                </a:solidFill>
                <a:latin typeface="Arial"/>
                <a:ea typeface="Arial"/>
                <a:cs typeface="Arial"/>
                <a:sym typeface="Arial"/>
              </a:rPr>
              <a:t>Customer_ID • Room_ID (FK)</a:t>
            </a:r>
            <a:endParaRPr/>
          </a:p>
        </p:txBody>
      </p:sp>
      <p:sp>
        <p:nvSpPr>
          <p:cNvPr id="276" name="Google Shape;276;p18"/>
          <p:cNvSpPr txBox="1"/>
          <p:nvPr/>
        </p:nvSpPr>
        <p:spPr>
          <a:xfrm>
            <a:off x="859536" y="5586984"/>
            <a:ext cx="1984248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30" u="none" cap="none" strike="noStrike">
                <a:solidFill>
                  <a:srgbClr val="232B32"/>
                </a:solidFill>
                <a:latin typeface="Arial"/>
                <a:ea typeface="Arial"/>
                <a:cs typeface="Arial"/>
                <a:sym typeface="Arial"/>
              </a:rPr>
              <a:t>Check-In/Out • Guests • Total</a:t>
            </a:r>
            <a:endParaRPr/>
          </a:p>
        </p:txBody>
      </p:sp>
      <p:sp>
        <p:nvSpPr>
          <p:cNvPr id="277" name="Google Shape;277;p18"/>
          <p:cNvSpPr/>
          <p:nvPr/>
        </p:nvSpPr>
        <p:spPr>
          <a:xfrm>
            <a:off x="4956048" y="4709160"/>
            <a:ext cx="2240280" cy="1143000"/>
          </a:xfrm>
          <a:prstGeom prst="roundRect">
            <a:avLst>
              <a:gd fmla="val 12000" name="adj"/>
            </a:avLst>
          </a:prstGeom>
          <a:solidFill>
            <a:srgbClr val="FFFFFF"/>
          </a:solidFill>
          <a:ln cap="flat" cmpd="sng" w="9525">
            <a:solidFill>
              <a:srgbClr val="E8ECE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18"/>
          <p:cNvSpPr/>
          <p:nvPr/>
        </p:nvSpPr>
        <p:spPr>
          <a:xfrm>
            <a:off x="4956048" y="4709160"/>
            <a:ext cx="2240280" cy="329184"/>
          </a:xfrm>
          <a:prstGeom prst="rect">
            <a:avLst/>
          </a:prstGeom>
          <a:solidFill>
            <a:srgbClr val="141F2B"/>
          </a:solidFill>
          <a:ln cap="flat" cmpd="sng" w="9525">
            <a:solidFill>
              <a:srgbClr val="141F2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18"/>
          <p:cNvSpPr txBox="1"/>
          <p:nvPr/>
        </p:nvSpPr>
        <p:spPr>
          <a:xfrm>
            <a:off x="5084064" y="4782312"/>
            <a:ext cx="1984248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Payments</a:t>
            </a:r>
            <a:endParaRPr/>
          </a:p>
        </p:txBody>
      </p:sp>
      <p:sp>
        <p:nvSpPr>
          <p:cNvPr id="280" name="Google Shape;280;p18"/>
          <p:cNvSpPr txBox="1"/>
          <p:nvPr/>
        </p:nvSpPr>
        <p:spPr>
          <a:xfrm>
            <a:off x="5084064" y="5166360"/>
            <a:ext cx="1984248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30" u="none" cap="none" strike="noStrike">
                <a:solidFill>
                  <a:srgbClr val="232B32"/>
                </a:solidFill>
                <a:latin typeface="Arial"/>
                <a:ea typeface="Arial"/>
                <a:cs typeface="Arial"/>
                <a:sym typeface="Arial"/>
              </a:rPr>
              <a:t>Payment_ID  (PK)</a:t>
            </a:r>
            <a:endParaRPr/>
          </a:p>
        </p:txBody>
      </p:sp>
      <p:sp>
        <p:nvSpPr>
          <p:cNvPr id="281" name="Google Shape;281;p18"/>
          <p:cNvSpPr txBox="1"/>
          <p:nvPr/>
        </p:nvSpPr>
        <p:spPr>
          <a:xfrm>
            <a:off x="5084064" y="5376672"/>
            <a:ext cx="1984248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30" u="none" cap="none" strike="noStrike">
                <a:solidFill>
                  <a:srgbClr val="232B32"/>
                </a:solidFill>
                <a:latin typeface="Arial"/>
                <a:ea typeface="Arial"/>
                <a:cs typeface="Arial"/>
                <a:sym typeface="Arial"/>
              </a:rPr>
              <a:t>Booking_ID (FK)</a:t>
            </a:r>
            <a:endParaRPr/>
          </a:p>
        </p:txBody>
      </p:sp>
      <p:sp>
        <p:nvSpPr>
          <p:cNvPr id="282" name="Google Shape;282;p18"/>
          <p:cNvSpPr txBox="1"/>
          <p:nvPr/>
        </p:nvSpPr>
        <p:spPr>
          <a:xfrm>
            <a:off x="5084064" y="5586984"/>
            <a:ext cx="1984248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30" u="none" cap="none" strike="noStrike">
                <a:solidFill>
                  <a:srgbClr val="232B32"/>
                </a:solidFill>
                <a:latin typeface="Arial"/>
                <a:ea typeface="Arial"/>
                <a:cs typeface="Arial"/>
                <a:sym typeface="Arial"/>
              </a:rPr>
              <a:t>UPI • Card • Net Banking</a:t>
            </a:r>
            <a:endParaRPr/>
          </a:p>
        </p:txBody>
      </p:sp>
      <p:sp>
        <p:nvSpPr>
          <p:cNvPr id="283" name="Google Shape;283;p18"/>
          <p:cNvSpPr/>
          <p:nvPr/>
        </p:nvSpPr>
        <p:spPr>
          <a:xfrm>
            <a:off x="9125712" y="4709160"/>
            <a:ext cx="2240280" cy="1143000"/>
          </a:xfrm>
          <a:prstGeom prst="roundRect">
            <a:avLst>
              <a:gd fmla="val 12000" name="adj"/>
            </a:avLst>
          </a:prstGeom>
          <a:solidFill>
            <a:srgbClr val="FFFFFF"/>
          </a:solidFill>
          <a:ln cap="flat" cmpd="sng" w="9525">
            <a:solidFill>
              <a:srgbClr val="E8ECE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18"/>
          <p:cNvSpPr/>
          <p:nvPr/>
        </p:nvSpPr>
        <p:spPr>
          <a:xfrm>
            <a:off x="9125712" y="4709160"/>
            <a:ext cx="2240280" cy="329184"/>
          </a:xfrm>
          <a:prstGeom prst="rect">
            <a:avLst/>
          </a:prstGeom>
          <a:solidFill>
            <a:srgbClr val="141F2B"/>
          </a:solidFill>
          <a:ln cap="flat" cmpd="sng" w="9525">
            <a:solidFill>
              <a:srgbClr val="141F2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18"/>
          <p:cNvSpPr txBox="1"/>
          <p:nvPr/>
        </p:nvSpPr>
        <p:spPr>
          <a:xfrm>
            <a:off x="9253728" y="4782312"/>
            <a:ext cx="1984248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Check_In_Out</a:t>
            </a:r>
            <a:endParaRPr/>
          </a:p>
        </p:txBody>
      </p:sp>
      <p:sp>
        <p:nvSpPr>
          <p:cNvPr id="286" name="Google Shape;286;p18"/>
          <p:cNvSpPr txBox="1"/>
          <p:nvPr/>
        </p:nvSpPr>
        <p:spPr>
          <a:xfrm>
            <a:off x="9253728" y="5166360"/>
            <a:ext cx="1984248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30" u="none" cap="none" strike="noStrike">
                <a:solidFill>
                  <a:srgbClr val="232B32"/>
                </a:solidFill>
                <a:latin typeface="Arial"/>
                <a:ea typeface="Arial"/>
                <a:cs typeface="Arial"/>
                <a:sym typeface="Arial"/>
              </a:rPr>
              <a:t>Checkin_ID  (PK)</a:t>
            </a:r>
            <a:endParaRPr/>
          </a:p>
        </p:txBody>
      </p:sp>
      <p:sp>
        <p:nvSpPr>
          <p:cNvPr id="287" name="Google Shape;287;p18"/>
          <p:cNvSpPr txBox="1"/>
          <p:nvPr/>
        </p:nvSpPr>
        <p:spPr>
          <a:xfrm>
            <a:off x="9253728" y="5376672"/>
            <a:ext cx="1984248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30" u="none" cap="none" strike="noStrike">
                <a:solidFill>
                  <a:srgbClr val="232B32"/>
                </a:solidFill>
                <a:latin typeface="Arial"/>
                <a:ea typeface="Arial"/>
                <a:cs typeface="Arial"/>
                <a:sym typeface="Arial"/>
              </a:rPr>
              <a:t>Booking_ID (UNIQUE)</a:t>
            </a:r>
            <a:endParaRPr/>
          </a:p>
        </p:txBody>
      </p:sp>
      <p:sp>
        <p:nvSpPr>
          <p:cNvPr id="288" name="Google Shape;288;p18"/>
          <p:cNvSpPr txBox="1"/>
          <p:nvPr/>
        </p:nvSpPr>
        <p:spPr>
          <a:xfrm>
            <a:off x="9253728" y="5586984"/>
            <a:ext cx="1984248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30" u="none" cap="none" strike="noStrike">
                <a:solidFill>
                  <a:srgbClr val="232B32"/>
                </a:solidFill>
                <a:latin typeface="Arial"/>
                <a:ea typeface="Arial"/>
                <a:cs typeface="Arial"/>
                <a:sym typeface="Arial"/>
              </a:rPr>
              <a:t>Arrival / Departure log</a:t>
            </a:r>
            <a:endParaRPr/>
          </a:p>
        </p:txBody>
      </p:sp>
      <p:cxnSp>
        <p:nvCxnSpPr>
          <p:cNvPr id="289" name="Google Shape;289;p18"/>
          <p:cNvCxnSpPr/>
          <p:nvPr/>
        </p:nvCxnSpPr>
        <p:spPr>
          <a:xfrm>
            <a:off x="2971800" y="2816352"/>
            <a:ext cx="1965960" cy="0"/>
          </a:xfrm>
          <a:prstGeom prst="straightConnector1">
            <a:avLst/>
          </a:prstGeom>
          <a:noFill/>
          <a:ln cap="flat" cmpd="sng" w="20300">
            <a:solidFill>
              <a:srgbClr val="CD9D4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290" name="Google Shape;290;p18"/>
          <p:cNvSpPr txBox="1"/>
          <p:nvPr/>
        </p:nvSpPr>
        <p:spPr>
          <a:xfrm>
            <a:off x="3273552" y="2514600"/>
            <a:ext cx="1371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CD9D48"/>
                </a:solidFill>
                <a:latin typeface="Arial"/>
                <a:ea typeface="Arial"/>
                <a:cs typeface="Arial"/>
                <a:sym typeface="Arial"/>
              </a:rPr>
              <a:t>MAKES • 1:N</a:t>
            </a:r>
            <a:endParaRPr/>
          </a:p>
        </p:txBody>
      </p:sp>
      <p:cxnSp>
        <p:nvCxnSpPr>
          <p:cNvPr id="291" name="Google Shape;291;p18"/>
          <p:cNvCxnSpPr/>
          <p:nvPr/>
        </p:nvCxnSpPr>
        <p:spPr>
          <a:xfrm>
            <a:off x="7205472" y="2816352"/>
            <a:ext cx="1892808" cy="0"/>
          </a:xfrm>
          <a:prstGeom prst="straightConnector1">
            <a:avLst/>
          </a:prstGeom>
          <a:noFill/>
          <a:ln cap="flat" cmpd="sng" w="20300">
            <a:solidFill>
              <a:srgbClr val="CD9D4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292" name="Google Shape;292;p18"/>
          <p:cNvSpPr txBox="1"/>
          <p:nvPr/>
        </p:nvSpPr>
        <p:spPr>
          <a:xfrm>
            <a:off x="7607808" y="2514600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CD9D48"/>
                </a:solidFill>
                <a:latin typeface="Arial"/>
                <a:ea typeface="Arial"/>
                <a:cs typeface="Arial"/>
                <a:sym typeface="Arial"/>
              </a:rPr>
              <a:t>HAS • 1:N</a:t>
            </a:r>
            <a:endParaRPr/>
          </a:p>
        </p:txBody>
      </p:sp>
      <p:cxnSp>
        <p:nvCxnSpPr>
          <p:cNvPr id="293" name="Google Shape;293;p18"/>
          <p:cNvCxnSpPr/>
          <p:nvPr/>
        </p:nvCxnSpPr>
        <p:spPr>
          <a:xfrm>
            <a:off x="1847088" y="3383280"/>
            <a:ext cx="0" cy="1298448"/>
          </a:xfrm>
          <a:prstGeom prst="straightConnector1">
            <a:avLst/>
          </a:prstGeom>
          <a:noFill/>
          <a:ln cap="flat" cmpd="sng" w="20300">
            <a:solidFill>
              <a:srgbClr val="CD9D4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294" name="Google Shape;294;p18"/>
          <p:cNvSpPr txBox="1"/>
          <p:nvPr/>
        </p:nvSpPr>
        <p:spPr>
          <a:xfrm>
            <a:off x="1993392" y="3822191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CD9D48"/>
                </a:solidFill>
                <a:latin typeface="Arial"/>
                <a:ea typeface="Arial"/>
                <a:cs typeface="Arial"/>
                <a:sym typeface="Arial"/>
              </a:rPr>
              <a:t>FOR • 1:N</a:t>
            </a:r>
            <a:endParaRPr/>
          </a:p>
        </p:txBody>
      </p:sp>
      <p:cxnSp>
        <p:nvCxnSpPr>
          <p:cNvPr id="295" name="Google Shape;295;p18"/>
          <p:cNvCxnSpPr/>
          <p:nvPr/>
        </p:nvCxnSpPr>
        <p:spPr>
          <a:xfrm>
            <a:off x="6080760" y="3383280"/>
            <a:ext cx="0" cy="1298448"/>
          </a:xfrm>
          <a:prstGeom prst="straightConnector1">
            <a:avLst/>
          </a:prstGeom>
          <a:noFill/>
          <a:ln cap="flat" cmpd="sng" w="20300">
            <a:solidFill>
              <a:srgbClr val="CD9D4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296" name="Google Shape;296;p18"/>
          <p:cNvSpPr txBox="1"/>
          <p:nvPr/>
        </p:nvSpPr>
        <p:spPr>
          <a:xfrm>
            <a:off x="6236208" y="3822191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CD9D48"/>
                </a:solidFill>
                <a:latin typeface="Arial"/>
                <a:ea typeface="Arial"/>
                <a:cs typeface="Arial"/>
                <a:sym typeface="Arial"/>
              </a:rPr>
              <a:t>HAS • 1:N</a:t>
            </a:r>
            <a:endParaRPr/>
          </a:p>
        </p:txBody>
      </p:sp>
      <p:cxnSp>
        <p:nvCxnSpPr>
          <p:cNvPr id="297" name="Google Shape;297;p18"/>
          <p:cNvCxnSpPr/>
          <p:nvPr/>
        </p:nvCxnSpPr>
        <p:spPr>
          <a:xfrm>
            <a:off x="10241280" y="3383280"/>
            <a:ext cx="0" cy="1298448"/>
          </a:xfrm>
          <a:prstGeom prst="straightConnector1">
            <a:avLst/>
          </a:prstGeom>
          <a:noFill/>
          <a:ln cap="flat" cmpd="sng" w="20300">
            <a:solidFill>
              <a:srgbClr val="CD9D4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298" name="Google Shape;298;p18"/>
          <p:cNvSpPr txBox="1"/>
          <p:nvPr/>
        </p:nvSpPr>
        <p:spPr>
          <a:xfrm>
            <a:off x="9144000" y="3822191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CD9D48"/>
                </a:solidFill>
                <a:latin typeface="Arial"/>
                <a:ea typeface="Arial"/>
                <a:cs typeface="Arial"/>
                <a:sym typeface="Arial"/>
              </a:rPr>
              <a:t>HAS • 0..1</a:t>
            </a:r>
            <a:endParaRPr/>
          </a:p>
        </p:txBody>
      </p:sp>
      <p:sp>
        <p:nvSpPr>
          <p:cNvPr id="299" name="Google Shape;299;p18"/>
          <p:cNvSpPr txBox="1"/>
          <p:nvPr/>
        </p:nvSpPr>
        <p:spPr>
          <a:xfrm>
            <a:off x="731520" y="6099048"/>
            <a:ext cx="106070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5B676F"/>
                </a:solidFill>
                <a:latin typeface="Arial"/>
                <a:ea typeface="Arial"/>
                <a:cs typeface="Arial"/>
                <a:sym typeface="Arial"/>
              </a:rPr>
              <a:t>Rectangles = 6 relational entities   •   Relationships = 5   •   Underlined = PK   •   Italics = FK   •   Mappings: 1:N, M:1, 1:0..1</a:t>
            </a:r>
            <a:endParaRPr/>
          </a:p>
        </p:txBody>
      </p:sp>
      <p:sp>
        <p:nvSpPr>
          <p:cNvPr id="300" name="Google Shape;300;p18"/>
          <p:cNvSpPr txBox="1"/>
          <p:nvPr/>
        </p:nvSpPr>
        <p:spPr>
          <a:xfrm>
            <a:off x="594360" y="6510528"/>
            <a:ext cx="43891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5B676F"/>
                </a:solidFill>
                <a:latin typeface="Arial"/>
                <a:ea typeface="Arial"/>
                <a:cs typeface="Arial"/>
                <a:sym typeface="Arial"/>
              </a:rPr>
              <a:t>TEAM 15  •  HOTEL MANAGEMENT SYSTEM</a:t>
            </a:r>
            <a:endParaRPr/>
          </a:p>
        </p:txBody>
      </p:sp>
      <p:sp>
        <p:nvSpPr>
          <p:cNvPr id="301" name="Google Shape;301;p18"/>
          <p:cNvSpPr txBox="1"/>
          <p:nvPr/>
        </p:nvSpPr>
        <p:spPr>
          <a:xfrm>
            <a:off x="10835640" y="6492240"/>
            <a:ext cx="749808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5B676F"/>
                </a:solidFill>
                <a:latin typeface="Arial"/>
                <a:ea typeface="Arial"/>
                <a:cs typeface="Arial"/>
                <a:sym typeface="Arial"/>
              </a:rPr>
              <a:t>05 / 13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6F1"/>
        </a:solidFill>
      </p:bgPr>
    </p:bg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19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3846A"/>
          </a:solidFill>
          <a:ln cap="flat" cmpd="sng" w="9525">
            <a:solidFill>
              <a:srgbClr val="23846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19"/>
          <p:cNvSpPr/>
          <p:nvPr/>
        </p:nvSpPr>
        <p:spPr>
          <a:xfrm>
            <a:off x="11475720" y="0"/>
            <a:ext cx="713232" cy="73152"/>
          </a:xfrm>
          <a:prstGeom prst="rect">
            <a:avLst/>
          </a:prstGeom>
          <a:solidFill>
            <a:srgbClr val="CD9D48"/>
          </a:solidFill>
          <a:ln cap="flat" cmpd="sng" w="9525">
            <a:solidFill>
              <a:srgbClr val="CD9D4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19"/>
          <p:cNvSpPr txBox="1"/>
          <p:nvPr/>
        </p:nvSpPr>
        <p:spPr>
          <a:xfrm>
            <a:off x="594360" y="475488"/>
            <a:ext cx="89611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141F2B"/>
                </a:solidFill>
                <a:latin typeface="Arial"/>
                <a:ea typeface="Arial"/>
                <a:cs typeface="Arial"/>
                <a:sym typeface="Arial"/>
              </a:rPr>
              <a:t>ER Diagram: Structure &amp; Relations</a:t>
            </a:r>
            <a:endParaRPr/>
          </a:p>
        </p:txBody>
      </p:sp>
      <p:sp>
        <p:nvSpPr>
          <p:cNvPr id="309" name="Google Shape;309;p19"/>
          <p:cNvSpPr txBox="1"/>
          <p:nvPr/>
        </p:nvSpPr>
        <p:spPr>
          <a:xfrm>
            <a:off x="612648" y="1005840"/>
            <a:ext cx="104241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69747A"/>
                </a:solidFill>
                <a:latin typeface="Arial"/>
                <a:ea typeface="Arial"/>
                <a:cs typeface="Arial"/>
                <a:sym typeface="Arial"/>
              </a:rPr>
              <a:t>Hotel Management System  •  ER Diagram Explanation</a:t>
            </a:r>
            <a:endParaRPr/>
          </a:p>
        </p:txBody>
      </p:sp>
      <p:sp>
        <p:nvSpPr>
          <p:cNvPr id="310" name="Google Shape;310;p19"/>
          <p:cNvSpPr/>
          <p:nvPr/>
        </p:nvSpPr>
        <p:spPr>
          <a:xfrm>
            <a:off x="594360" y="1600200"/>
            <a:ext cx="5257800" cy="4526280"/>
          </a:xfrm>
          <a:prstGeom prst="roundRect">
            <a:avLst>
              <a:gd fmla="val 12000" name="adj"/>
            </a:avLst>
          </a:prstGeom>
          <a:solidFill>
            <a:srgbClr val="141F2B"/>
          </a:solidFill>
          <a:ln cap="flat" cmpd="sng" w="9525">
            <a:solidFill>
              <a:srgbClr val="141F2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19"/>
          <p:cNvSpPr txBox="1"/>
          <p:nvPr/>
        </p:nvSpPr>
        <p:spPr>
          <a:xfrm>
            <a:off x="868680" y="1847088"/>
            <a:ext cx="4297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CD9D48"/>
                </a:solidFill>
                <a:latin typeface="Arial"/>
                <a:ea typeface="Arial"/>
                <a:cs typeface="Arial"/>
                <a:sym typeface="Arial"/>
              </a:rPr>
              <a:t>6 CORE RELATIONAL ENTITIES</a:t>
            </a:r>
            <a:endParaRPr/>
          </a:p>
        </p:txBody>
      </p:sp>
      <p:sp>
        <p:nvSpPr>
          <p:cNvPr id="312" name="Google Shape;312;p19"/>
          <p:cNvSpPr txBox="1"/>
          <p:nvPr/>
        </p:nvSpPr>
        <p:spPr>
          <a:xfrm>
            <a:off x="868680" y="2304288"/>
            <a:ext cx="43891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1. CUSTOMERS</a:t>
            </a:r>
            <a:endParaRPr/>
          </a:p>
        </p:txBody>
      </p:sp>
      <p:sp>
        <p:nvSpPr>
          <p:cNvPr id="313" name="Google Shape;313;p19"/>
          <p:cNvSpPr txBox="1"/>
          <p:nvPr/>
        </p:nvSpPr>
        <p:spPr>
          <a:xfrm>
            <a:off x="868680" y="2560320"/>
            <a:ext cx="4407408" cy="493776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69" u="none" cap="none" strike="noStrike">
                <a:solidFill>
                  <a:srgbClr val="C9D6D3"/>
                </a:solidFill>
                <a:latin typeface="Arial"/>
                <a:ea typeface="Arial"/>
                <a:cs typeface="Arial"/>
                <a:sym typeface="Arial"/>
              </a:rPr>
              <a:t>Stores primary guest identities: Customer_ID (PK), names, contact numbers, address, and government ID proof (Aadhar/Passport).</a:t>
            </a:r>
            <a:endParaRPr/>
          </a:p>
        </p:txBody>
      </p:sp>
      <p:sp>
        <p:nvSpPr>
          <p:cNvPr id="314" name="Google Shape;314;p19"/>
          <p:cNvSpPr txBox="1"/>
          <p:nvPr/>
        </p:nvSpPr>
        <p:spPr>
          <a:xfrm>
            <a:off x="868680" y="3035808"/>
            <a:ext cx="43891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2. ROOM_TYPES</a:t>
            </a:r>
            <a:endParaRPr/>
          </a:p>
        </p:txBody>
      </p:sp>
      <p:sp>
        <p:nvSpPr>
          <p:cNvPr id="315" name="Google Shape;315;p19"/>
          <p:cNvSpPr txBox="1"/>
          <p:nvPr/>
        </p:nvSpPr>
        <p:spPr>
          <a:xfrm>
            <a:off x="868680" y="3291840"/>
            <a:ext cx="4407408" cy="493776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69" u="none" cap="none" strike="noStrike">
                <a:solidFill>
                  <a:srgbClr val="C9D6D3"/>
                </a:solidFill>
                <a:latin typeface="Arial"/>
                <a:ea typeface="Arial"/>
                <a:cs typeface="Arial"/>
                <a:sym typeface="Arial"/>
              </a:rPr>
              <a:t>Master catalog defining category tiers: Type_ID (PK), Bed Type, Max Occupancy, Area sqft, AC status, and Base Price.</a:t>
            </a:r>
            <a:endParaRPr/>
          </a:p>
        </p:txBody>
      </p:sp>
      <p:sp>
        <p:nvSpPr>
          <p:cNvPr id="316" name="Google Shape;316;p19"/>
          <p:cNvSpPr txBox="1"/>
          <p:nvPr/>
        </p:nvSpPr>
        <p:spPr>
          <a:xfrm>
            <a:off x="868680" y="3767328"/>
            <a:ext cx="43891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3. ROOMS</a:t>
            </a:r>
            <a:endParaRPr/>
          </a:p>
        </p:txBody>
      </p:sp>
      <p:sp>
        <p:nvSpPr>
          <p:cNvPr id="317" name="Google Shape;317;p19"/>
          <p:cNvSpPr txBox="1"/>
          <p:nvPr/>
        </p:nvSpPr>
        <p:spPr>
          <a:xfrm>
            <a:off x="868680" y="4023360"/>
            <a:ext cx="4407408" cy="493776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69" u="none" cap="none" strike="noStrike">
                <a:solidFill>
                  <a:srgbClr val="C9D6D3"/>
                </a:solidFill>
                <a:latin typeface="Arial"/>
                <a:ea typeface="Arial"/>
                <a:cs typeface="Arial"/>
                <a:sym typeface="Arial"/>
              </a:rPr>
              <a:t>Physical inventory units: Room_ID (PK), Room Number, Floor, Status, View Type, and Type_ID (FK) link to catalog.</a:t>
            </a:r>
            <a:endParaRPr/>
          </a:p>
        </p:txBody>
      </p:sp>
      <p:sp>
        <p:nvSpPr>
          <p:cNvPr id="318" name="Google Shape;318;p19"/>
          <p:cNvSpPr txBox="1"/>
          <p:nvPr/>
        </p:nvSpPr>
        <p:spPr>
          <a:xfrm>
            <a:off x="868680" y="4498848"/>
            <a:ext cx="43891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4. BOOKINGS</a:t>
            </a:r>
            <a:endParaRPr/>
          </a:p>
        </p:txBody>
      </p:sp>
      <p:sp>
        <p:nvSpPr>
          <p:cNvPr id="319" name="Google Shape;319;p19"/>
          <p:cNvSpPr txBox="1"/>
          <p:nvPr/>
        </p:nvSpPr>
        <p:spPr>
          <a:xfrm>
            <a:off x="868680" y="4754880"/>
            <a:ext cx="4407408" cy="493776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69" u="none" cap="none" strike="noStrike">
                <a:solidFill>
                  <a:srgbClr val="C9D6D3"/>
                </a:solidFill>
                <a:latin typeface="Arial"/>
                <a:ea typeface="Arial"/>
                <a:cs typeface="Arial"/>
                <a:sym typeface="Arial"/>
              </a:rPr>
              <a:t>Central transaction junction: Booking_ID (PK), Check-In/Out dates, guest count, and dynamic Total Amount.</a:t>
            </a:r>
            <a:endParaRPr/>
          </a:p>
        </p:txBody>
      </p:sp>
      <p:sp>
        <p:nvSpPr>
          <p:cNvPr id="320" name="Google Shape;320;p19"/>
          <p:cNvSpPr txBox="1"/>
          <p:nvPr/>
        </p:nvSpPr>
        <p:spPr>
          <a:xfrm>
            <a:off x="868680" y="5230368"/>
            <a:ext cx="43891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5 &amp; 6. PAYMENTS / CHECK_IN_OUT</a:t>
            </a:r>
            <a:endParaRPr/>
          </a:p>
        </p:txBody>
      </p:sp>
      <p:sp>
        <p:nvSpPr>
          <p:cNvPr id="321" name="Google Shape;321;p19"/>
          <p:cNvSpPr txBox="1"/>
          <p:nvPr/>
        </p:nvSpPr>
        <p:spPr>
          <a:xfrm>
            <a:off x="868680" y="5486400"/>
            <a:ext cx="4407408" cy="493776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69" u="none" cap="none" strike="noStrike">
                <a:solidFill>
                  <a:srgbClr val="C9D6D3"/>
                </a:solidFill>
                <a:latin typeface="Arial"/>
                <a:ea typeface="Arial"/>
                <a:cs typeface="Arial"/>
                <a:sym typeface="Arial"/>
              </a:rPr>
              <a:t>Tracks multi-gateway settlements (UPI, Card, Net Banking) and logs real-time arrival/departure operational timestamps.</a:t>
            </a:r>
            <a:endParaRPr/>
          </a:p>
        </p:txBody>
      </p:sp>
      <p:sp>
        <p:nvSpPr>
          <p:cNvPr id="322" name="Google Shape;322;p19"/>
          <p:cNvSpPr/>
          <p:nvPr/>
        </p:nvSpPr>
        <p:spPr>
          <a:xfrm>
            <a:off x="6126480" y="1600200"/>
            <a:ext cx="5468112" cy="4526280"/>
          </a:xfrm>
          <a:prstGeom prst="roundRect">
            <a:avLst>
              <a:gd fmla="val 12000" name="adj"/>
            </a:avLst>
          </a:prstGeom>
          <a:solidFill>
            <a:srgbClr val="FFFFFF"/>
          </a:solidFill>
          <a:ln cap="flat" cmpd="sng" w="9525">
            <a:solidFill>
              <a:srgbClr val="E8ECE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19"/>
          <p:cNvSpPr txBox="1"/>
          <p:nvPr/>
        </p:nvSpPr>
        <p:spPr>
          <a:xfrm>
            <a:off x="6419088" y="1847088"/>
            <a:ext cx="47548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166752"/>
                </a:solidFill>
                <a:latin typeface="Arial"/>
                <a:ea typeface="Arial"/>
                <a:cs typeface="Arial"/>
                <a:sym typeface="Arial"/>
              </a:rPr>
              <a:t>CARDINALITY &amp; RELATIONSHIP LOGIC</a:t>
            </a:r>
            <a:endParaRPr/>
          </a:p>
        </p:txBody>
      </p:sp>
      <p:sp>
        <p:nvSpPr>
          <p:cNvPr id="324" name="Google Shape;324;p19"/>
          <p:cNvSpPr/>
          <p:nvPr/>
        </p:nvSpPr>
        <p:spPr>
          <a:xfrm>
            <a:off x="6419088" y="2331720"/>
            <a:ext cx="4800600" cy="566928"/>
          </a:xfrm>
          <a:prstGeom prst="roundRect">
            <a:avLst>
              <a:gd fmla="val 12000" name="adj"/>
            </a:avLst>
          </a:prstGeom>
          <a:solidFill>
            <a:srgbClr val="F2F4F2"/>
          </a:solidFill>
          <a:ln cap="flat" cmpd="sng" w="9525">
            <a:solidFill>
              <a:srgbClr val="F2F4F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19"/>
          <p:cNvSpPr txBox="1"/>
          <p:nvPr/>
        </p:nvSpPr>
        <p:spPr>
          <a:xfrm>
            <a:off x="6565392" y="2414015"/>
            <a:ext cx="4498848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19" u="none" cap="none" strike="noStrike">
                <a:solidFill>
                  <a:srgbClr val="232B32"/>
                </a:solidFill>
                <a:latin typeface="Arial"/>
                <a:ea typeface="Arial"/>
                <a:cs typeface="Arial"/>
                <a:sym typeface="Arial"/>
              </a:rPr>
              <a:t>CUSTOMERS (1) — MAKES — (M) BOOKINGS: A single customer can reserve rooms multiple times across different dates; each booking points to exactly one primary guest.</a:t>
            </a:r>
            <a:endParaRPr/>
          </a:p>
        </p:txBody>
      </p:sp>
      <p:sp>
        <p:nvSpPr>
          <p:cNvPr id="326" name="Google Shape;326;p19"/>
          <p:cNvSpPr/>
          <p:nvPr/>
        </p:nvSpPr>
        <p:spPr>
          <a:xfrm>
            <a:off x="6419088" y="2999232"/>
            <a:ext cx="4800600" cy="566928"/>
          </a:xfrm>
          <a:prstGeom prst="roundRect">
            <a:avLst>
              <a:gd fmla="val 12000" name="adj"/>
            </a:avLst>
          </a:prstGeom>
          <a:solidFill>
            <a:srgbClr val="F2F4F2"/>
          </a:solidFill>
          <a:ln cap="flat" cmpd="sng" w="9525">
            <a:solidFill>
              <a:srgbClr val="F2F4F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19"/>
          <p:cNvSpPr txBox="1"/>
          <p:nvPr/>
        </p:nvSpPr>
        <p:spPr>
          <a:xfrm>
            <a:off x="6565392" y="3081527"/>
            <a:ext cx="4498848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19" u="none" cap="none" strike="noStrike">
                <a:solidFill>
                  <a:srgbClr val="232B32"/>
                </a:solidFill>
                <a:latin typeface="Arial"/>
                <a:ea typeface="Arial"/>
                <a:cs typeface="Arial"/>
                <a:sym typeface="Arial"/>
              </a:rPr>
              <a:t>ROOM_TYPES (1) — HAS — (M) ROOMS: Each room type (e.g. Deluxe) categorizes multiple physical rooms, enforcing 3NF by preventing specification duplication.</a:t>
            </a:r>
            <a:endParaRPr/>
          </a:p>
        </p:txBody>
      </p:sp>
      <p:sp>
        <p:nvSpPr>
          <p:cNvPr id="328" name="Google Shape;328;p19"/>
          <p:cNvSpPr/>
          <p:nvPr/>
        </p:nvSpPr>
        <p:spPr>
          <a:xfrm>
            <a:off x="6419088" y="3666744"/>
            <a:ext cx="4800600" cy="566928"/>
          </a:xfrm>
          <a:prstGeom prst="roundRect">
            <a:avLst>
              <a:gd fmla="val 12000" name="adj"/>
            </a:avLst>
          </a:prstGeom>
          <a:solidFill>
            <a:srgbClr val="F2F4F2"/>
          </a:solidFill>
          <a:ln cap="flat" cmpd="sng" w="9525">
            <a:solidFill>
              <a:srgbClr val="F2F4F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19"/>
          <p:cNvSpPr txBox="1"/>
          <p:nvPr/>
        </p:nvSpPr>
        <p:spPr>
          <a:xfrm>
            <a:off x="6565392" y="3749039"/>
            <a:ext cx="4498848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19" u="none" cap="none" strike="noStrike">
                <a:solidFill>
                  <a:srgbClr val="232B32"/>
                </a:solidFill>
                <a:latin typeface="Arial"/>
                <a:ea typeface="Arial"/>
                <a:cs typeface="Arial"/>
                <a:sym typeface="Arial"/>
              </a:rPr>
              <a:t>ROOMS (1) — FOR — (M) BOOKINGS: A physical room can be scheduled for multiple separate bookings over time without overlapping reservation intervals.</a:t>
            </a:r>
            <a:endParaRPr/>
          </a:p>
        </p:txBody>
      </p:sp>
      <p:sp>
        <p:nvSpPr>
          <p:cNvPr id="330" name="Google Shape;330;p19"/>
          <p:cNvSpPr/>
          <p:nvPr/>
        </p:nvSpPr>
        <p:spPr>
          <a:xfrm>
            <a:off x="6419088" y="4334256"/>
            <a:ext cx="4800600" cy="566928"/>
          </a:xfrm>
          <a:prstGeom prst="roundRect">
            <a:avLst>
              <a:gd fmla="val 12000" name="adj"/>
            </a:avLst>
          </a:prstGeom>
          <a:solidFill>
            <a:srgbClr val="F2F4F2"/>
          </a:solidFill>
          <a:ln cap="flat" cmpd="sng" w="9525">
            <a:solidFill>
              <a:srgbClr val="F2F4F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19"/>
          <p:cNvSpPr txBox="1"/>
          <p:nvPr/>
        </p:nvSpPr>
        <p:spPr>
          <a:xfrm>
            <a:off x="6565392" y="4416552"/>
            <a:ext cx="4498848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19" u="none" cap="none" strike="noStrike">
                <a:solidFill>
                  <a:srgbClr val="232B32"/>
                </a:solidFill>
                <a:latin typeface="Arial"/>
                <a:ea typeface="Arial"/>
                <a:cs typeface="Arial"/>
                <a:sym typeface="Arial"/>
              </a:rPr>
              <a:t>BOOKINGS (1) — HAS — (M) PAYMENTS: Supports flexible accounting—allowing guests to submit advance tokens, partial payments, or multi-mode settlements.</a:t>
            </a:r>
            <a:endParaRPr/>
          </a:p>
        </p:txBody>
      </p:sp>
      <p:sp>
        <p:nvSpPr>
          <p:cNvPr id="332" name="Google Shape;332;p19"/>
          <p:cNvSpPr/>
          <p:nvPr/>
        </p:nvSpPr>
        <p:spPr>
          <a:xfrm>
            <a:off x="6419088" y="5001768"/>
            <a:ext cx="4800600" cy="566928"/>
          </a:xfrm>
          <a:prstGeom prst="roundRect">
            <a:avLst>
              <a:gd fmla="val 12000" name="adj"/>
            </a:avLst>
          </a:prstGeom>
          <a:solidFill>
            <a:srgbClr val="F2F4F2"/>
          </a:solidFill>
          <a:ln cap="flat" cmpd="sng" w="9525">
            <a:solidFill>
              <a:srgbClr val="F2F4F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19"/>
          <p:cNvSpPr txBox="1"/>
          <p:nvPr/>
        </p:nvSpPr>
        <p:spPr>
          <a:xfrm>
            <a:off x="6565392" y="5084064"/>
            <a:ext cx="4498848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19" u="none" cap="none" strike="noStrike">
                <a:solidFill>
                  <a:srgbClr val="232B32"/>
                </a:solidFill>
                <a:latin typeface="Arial"/>
                <a:ea typeface="Arial"/>
                <a:cs typeface="Arial"/>
                <a:sym typeface="Arial"/>
              </a:rPr>
              <a:t>BOOKINGS (1) — HAS — (0..1) CHECK_IN_OUT: A unique 1-to-0..1 relationship. A booking exists prior to physical arrival, receiving exactly one check-in audit log.</a:t>
            </a:r>
            <a:endParaRPr/>
          </a:p>
        </p:txBody>
      </p:sp>
      <p:sp>
        <p:nvSpPr>
          <p:cNvPr id="334" name="Google Shape;334;p19"/>
          <p:cNvSpPr/>
          <p:nvPr/>
        </p:nvSpPr>
        <p:spPr>
          <a:xfrm>
            <a:off x="6382512" y="5532120"/>
            <a:ext cx="4846320" cy="384048"/>
          </a:xfrm>
          <a:prstGeom prst="roundRect">
            <a:avLst>
              <a:gd fmla="val 12000" name="adj"/>
            </a:avLst>
          </a:prstGeom>
          <a:solidFill>
            <a:srgbClr val="EEDAAE"/>
          </a:solidFill>
          <a:ln cap="flat" cmpd="sng" w="9525">
            <a:solidFill>
              <a:srgbClr val="EEDAA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19"/>
          <p:cNvSpPr txBox="1"/>
          <p:nvPr/>
        </p:nvSpPr>
        <p:spPr>
          <a:xfrm>
            <a:off x="6510528" y="5632704"/>
            <a:ext cx="4590288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19" u="none" cap="none" strike="noStrike">
                <a:solidFill>
                  <a:srgbClr val="141F2B"/>
                </a:solidFill>
                <a:latin typeface="Arial"/>
                <a:ea typeface="Arial"/>
                <a:cs typeface="Arial"/>
                <a:sym typeface="Arial"/>
              </a:rPr>
              <a:t>Design validation: fully eliminates data redundancy while maintaining strict referential integrity.</a:t>
            </a:r>
            <a:endParaRPr/>
          </a:p>
        </p:txBody>
      </p:sp>
      <p:sp>
        <p:nvSpPr>
          <p:cNvPr id="336" name="Google Shape;336;p19"/>
          <p:cNvSpPr txBox="1"/>
          <p:nvPr/>
        </p:nvSpPr>
        <p:spPr>
          <a:xfrm>
            <a:off x="594360" y="6510528"/>
            <a:ext cx="43891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5B676F"/>
                </a:solidFill>
                <a:latin typeface="Arial"/>
                <a:ea typeface="Arial"/>
                <a:cs typeface="Arial"/>
                <a:sym typeface="Arial"/>
              </a:rPr>
              <a:t>TEAM 15  •  HOTEL MANAGEMENT SYSTEM</a:t>
            </a:r>
            <a:endParaRPr/>
          </a:p>
        </p:txBody>
      </p:sp>
      <p:sp>
        <p:nvSpPr>
          <p:cNvPr id="337" name="Google Shape;337;p19"/>
          <p:cNvSpPr txBox="1"/>
          <p:nvPr/>
        </p:nvSpPr>
        <p:spPr>
          <a:xfrm>
            <a:off x="10835640" y="6492240"/>
            <a:ext cx="749808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5B676F"/>
                </a:solidFill>
                <a:latin typeface="Arial"/>
                <a:ea typeface="Arial"/>
                <a:cs typeface="Arial"/>
                <a:sym typeface="Arial"/>
              </a:rPr>
              <a:t>06 / 13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6F1"/>
        </a:solidFill>
      </p:bgPr>
    </p:bg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2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3846A"/>
          </a:solidFill>
          <a:ln cap="flat" cmpd="sng" w="9525">
            <a:solidFill>
              <a:srgbClr val="23846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20"/>
          <p:cNvSpPr/>
          <p:nvPr/>
        </p:nvSpPr>
        <p:spPr>
          <a:xfrm>
            <a:off x="11475720" y="0"/>
            <a:ext cx="713232" cy="73152"/>
          </a:xfrm>
          <a:prstGeom prst="rect">
            <a:avLst/>
          </a:prstGeom>
          <a:solidFill>
            <a:srgbClr val="CD9D48"/>
          </a:solidFill>
          <a:ln cap="flat" cmpd="sng" w="9525">
            <a:solidFill>
              <a:srgbClr val="CD9D4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20"/>
          <p:cNvSpPr txBox="1"/>
          <p:nvPr/>
        </p:nvSpPr>
        <p:spPr>
          <a:xfrm>
            <a:off x="594360" y="475488"/>
            <a:ext cx="89611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141F2B"/>
                </a:solidFill>
                <a:latin typeface="Arial"/>
                <a:ea typeface="Arial"/>
                <a:cs typeface="Arial"/>
                <a:sym typeface="Arial"/>
              </a:rPr>
              <a:t>Relational Schema &amp; Keys</a:t>
            </a:r>
            <a:endParaRPr/>
          </a:p>
        </p:txBody>
      </p:sp>
      <p:sp>
        <p:nvSpPr>
          <p:cNvPr id="345" name="Google Shape;345;p20"/>
          <p:cNvSpPr txBox="1"/>
          <p:nvPr/>
        </p:nvSpPr>
        <p:spPr>
          <a:xfrm>
            <a:off x="612648" y="1005840"/>
            <a:ext cx="104241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69747A"/>
                </a:solidFill>
                <a:latin typeface="Arial"/>
                <a:ea typeface="Arial"/>
                <a:cs typeface="Arial"/>
                <a:sym typeface="Arial"/>
              </a:rPr>
              <a:t>Hotel Management System  •  Keys &amp; Relationships</a:t>
            </a:r>
            <a:endParaRPr/>
          </a:p>
        </p:txBody>
      </p:sp>
      <p:sp>
        <p:nvSpPr>
          <p:cNvPr id="346" name="Google Shape;346;p20"/>
          <p:cNvSpPr/>
          <p:nvPr/>
        </p:nvSpPr>
        <p:spPr>
          <a:xfrm>
            <a:off x="594360" y="1572768"/>
            <a:ext cx="5257800" cy="1188720"/>
          </a:xfrm>
          <a:prstGeom prst="roundRect">
            <a:avLst>
              <a:gd fmla="val 12000" name="adj"/>
            </a:avLst>
          </a:prstGeom>
          <a:solidFill>
            <a:srgbClr val="FFFFFF"/>
          </a:solidFill>
          <a:ln cap="flat" cmpd="sng" w="9525">
            <a:solidFill>
              <a:srgbClr val="E8ECE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20"/>
          <p:cNvSpPr/>
          <p:nvPr/>
        </p:nvSpPr>
        <p:spPr>
          <a:xfrm>
            <a:off x="594360" y="1572768"/>
            <a:ext cx="64008" cy="1188720"/>
          </a:xfrm>
          <a:prstGeom prst="rect">
            <a:avLst/>
          </a:prstGeom>
          <a:solidFill>
            <a:srgbClr val="23846A"/>
          </a:solidFill>
          <a:ln cap="flat" cmpd="sng" w="9525">
            <a:solidFill>
              <a:srgbClr val="23846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20"/>
          <p:cNvSpPr/>
          <p:nvPr/>
        </p:nvSpPr>
        <p:spPr>
          <a:xfrm>
            <a:off x="795528" y="1755648"/>
            <a:ext cx="347472" cy="347472"/>
          </a:xfrm>
          <a:prstGeom prst="roundRect">
            <a:avLst>
              <a:gd fmla="val 12000" name="adj"/>
            </a:avLst>
          </a:prstGeom>
          <a:solidFill>
            <a:srgbClr val="23846A"/>
          </a:solidFill>
          <a:ln cap="flat" cmpd="sng" w="9525">
            <a:solidFill>
              <a:srgbClr val="23846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20"/>
          <p:cNvSpPr txBox="1"/>
          <p:nvPr/>
        </p:nvSpPr>
        <p:spPr>
          <a:xfrm>
            <a:off x="795528" y="1751076"/>
            <a:ext cx="347472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27425" lIns="27425" spcFirstLastPara="1" rIns="27425" wrap="square" tIns="274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RI</a:t>
            </a:r>
            <a:endParaRPr/>
          </a:p>
        </p:txBody>
      </p:sp>
      <p:sp>
        <p:nvSpPr>
          <p:cNvPr id="350" name="Google Shape;350;p20"/>
          <p:cNvSpPr txBox="1"/>
          <p:nvPr/>
        </p:nvSpPr>
        <p:spPr>
          <a:xfrm>
            <a:off x="1252728" y="1755648"/>
            <a:ext cx="4398264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41F2B"/>
                </a:solidFill>
                <a:latin typeface="Arial"/>
                <a:ea typeface="Arial"/>
                <a:cs typeface="Arial"/>
                <a:sym typeface="Arial"/>
              </a:rPr>
              <a:t>Referential Integrity Constraints</a:t>
            </a:r>
            <a:endParaRPr/>
          </a:p>
        </p:txBody>
      </p:sp>
      <p:sp>
        <p:nvSpPr>
          <p:cNvPr id="351" name="Google Shape;351;p20"/>
          <p:cNvSpPr txBox="1"/>
          <p:nvPr/>
        </p:nvSpPr>
        <p:spPr>
          <a:xfrm>
            <a:off x="1252728" y="2157984"/>
            <a:ext cx="4370832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5B676F"/>
                </a:solidFill>
                <a:latin typeface="Arial"/>
                <a:ea typeface="Arial"/>
                <a:cs typeface="Arial"/>
                <a:sym typeface="Arial"/>
              </a:rPr>
              <a:t>Configured with ON UPDATE CASCADE and ON DELETE RESTRICT on all foreign keys to safeguard against accidental deletion of active guest stays or historical payments.</a:t>
            </a:r>
            <a:endParaRPr/>
          </a:p>
        </p:txBody>
      </p:sp>
      <p:sp>
        <p:nvSpPr>
          <p:cNvPr id="352" name="Google Shape;352;p20"/>
          <p:cNvSpPr/>
          <p:nvPr/>
        </p:nvSpPr>
        <p:spPr>
          <a:xfrm>
            <a:off x="6144768" y="1572768"/>
            <a:ext cx="5449824" cy="1188720"/>
          </a:xfrm>
          <a:prstGeom prst="roundRect">
            <a:avLst>
              <a:gd fmla="val 12000" name="adj"/>
            </a:avLst>
          </a:prstGeom>
          <a:solidFill>
            <a:srgbClr val="FFFFFF"/>
          </a:solidFill>
          <a:ln cap="flat" cmpd="sng" w="9525">
            <a:solidFill>
              <a:srgbClr val="E8ECE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20"/>
          <p:cNvSpPr/>
          <p:nvPr/>
        </p:nvSpPr>
        <p:spPr>
          <a:xfrm>
            <a:off x="6144768" y="1572768"/>
            <a:ext cx="64008" cy="1188720"/>
          </a:xfrm>
          <a:prstGeom prst="rect">
            <a:avLst/>
          </a:prstGeom>
          <a:solidFill>
            <a:srgbClr val="CD9D48"/>
          </a:solidFill>
          <a:ln cap="flat" cmpd="sng" w="9525">
            <a:solidFill>
              <a:srgbClr val="CD9D4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20"/>
          <p:cNvSpPr/>
          <p:nvPr/>
        </p:nvSpPr>
        <p:spPr>
          <a:xfrm>
            <a:off x="6345936" y="1755648"/>
            <a:ext cx="347472" cy="347472"/>
          </a:xfrm>
          <a:prstGeom prst="roundRect">
            <a:avLst>
              <a:gd fmla="val 12000" name="adj"/>
            </a:avLst>
          </a:prstGeom>
          <a:solidFill>
            <a:srgbClr val="CD9D48"/>
          </a:solidFill>
          <a:ln cap="flat" cmpd="sng" w="9525">
            <a:solidFill>
              <a:srgbClr val="CD9D4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20"/>
          <p:cNvSpPr txBox="1"/>
          <p:nvPr/>
        </p:nvSpPr>
        <p:spPr>
          <a:xfrm>
            <a:off x="6345936" y="1751076"/>
            <a:ext cx="347472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27425" lIns="27425" spcFirstLastPara="1" rIns="27425" wrap="square" tIns="274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PK</a:t>
            </a:r>
            <a:endParaRPr/>
          </a:p>
        </p:txBody>
      </p:sp>
      <p:sp>
        <p:nvSpPr>
          <p:cNvPr id="356" name="Google Shape;356;p20"/>
          <p:cNvSpPr txBox="1"/>
          <p:nvPr/>
        </p:nvSpPr>
        <p:spPr>
          <a:xfrm>
            <a:off x="6803136" y="1755648"/>
            <a:ext cx="4590288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41F2B"/>
                </a:solidFill>
                <a:latin typeface="Arial"/>
                <a:ea typeface="Arial"/>
                <a:cs typeface="Arial"/>
                <a:sym typeface="Arial"/>
              </a:rPr>
              <a:t>Surrogate Key Standard</a:t>
            </a:r>
            <a:endParaRPr/>
          </a:p>
        </p:txBody>
      </p:sp>
      <p:sp>
        <p:nvSpPr>
          <p:cNvPr id="357" name="Google Shape;357;p20"/>
          <p:cNvSpPr txBox="1"/>
          <p:nvPr/>
        </p:nvSpPr>
        <p:spPr>
          <a:xfrm>
            <a:off x="6803136" y="2157984"/>
            <a:ext cx="4562856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5B676F"/>
                </a:solidFill>
                <a:latin typeface="Arial"/>
                <a:ea typeface="Arial"/>
                <a:cs typeface="Arial"/>
                <a:sym typeface="Arial"/>
              </a:rPr>
              <a:t>Auto-incrementing integer primary keys (AUTO_INCREMENT) ensure high-performance joins and prevent key instability across all 6 core relations.</a:t>
            </a:r>
            <a:endParaRPr/>
          </a:p>
        </p:txBody>
      </p:sp>
      <p:sp>
        <p:nvSpPr>
          <p:cNvPr id="358" name="Google Shape;358;p20"/>
          <p:cNvSpPr/>
          <p:nvPr/>
        </p:nvSpPr>
        <p:spPr>
          <a:xfrm>
            <a:off x="594360" y="3063240"/>
            <a:ext cx="1965960" cy="475488"/>
          </a:xfrm>
          <a:prstGeom prst="rect">
            <a:avLst/>
          </a:prstGeom>
          <a:solidFill>
            <a:srgbClr val="141F2B"/>
          </a:solidFill>
          <a:ln cap="flat" cmpd="sng" w="9525">
            <a:solidFill>
              <a:srgbClr val="141F2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20"/>
          <p:cNvSpPr txBox="1"/>
          <p:nvPr/>
        </p:nvSpPr>
        <p:spPr>
          <a:xfrm>
            <a:off x="667512" y="3191256"/>
            <a:ext cx="1819656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8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RELATIONAL TABLE</a:t>
            </a:r>
            <a:endParaRPr/>
          </a:p>
        </p:txBody>
      </p:sp>
      <p:sp>
        <p:nvSpPr>
          <p:cNvPr id="360" name="Google Shape;360;p20"/>
          <p:cNvSpPr/>
          <p:nvPr/>
        </p:nvSpPr>
        <p:spPr>
          <a:xfrm>
            <a:off x="2560320" y="3063240"/>
            <a:ext cx="1600200" cy="475488"/>
          </a:xfrm>
          <a:prstGeom prst="rect">
            <a:avLst/>
          </a:prstGeom>
          <a:solidFill>
            <a:srgbClr val="141F2B"/>
          </a:solidFill>
          <a:ln cap="flat" cmpd="sng" w="9525">
            <a:solidFill>
              <a:srgbClr val="141F2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20"/>
          <p:cNvSpPr txBox="1"/>
          <p:nvPr/>
        </p:nvSpPr>
        <p:spPr>
          <a:xfrm>
            <a:off x="2633472" y="3191256"/>
            <a:ext cx="1453896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8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PRIMARY KEY (PK)</a:t>
            </a:r>
            <a:endParaRPr/>
          </a:p>
        </p:txBody>
      </p:sp>
      <p:sp>
        <p:nvSpPr>
          <p:cNvPr id="362" name="Google Shape;362;p20"/>
          <p:cNvSpPr/>
          <p:nvPr/>
        </p:nvSpPr>
        <p:spPr>
          <a:xfrm>
            <a:off x="4160520" y="3063240"/>
            <a:ext cx="2057400" cy="475488"/>
          </a:xfrm>
          <a:prstGeom prst="rect">
            <a:avLst/>
          </a:prstGeom>
          <a:solidFill>
            <a:srgbClr val="141F2B"/>
          </a:solidFill>
          <a:ln cap="flat" cmpd="sng" w="9525">
            <a:solidFill>
              <a:srgbClr val="141F2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20"/>
          <p:cNvSpPr txBox="1"/>
          <p:nvPr/>
        </p:nvSpPr>
        <p:spPr>
          <a:xfrm>
            <a:off x="4233672" y="3191256"/>
            <a:ext cx="1911095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8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FOREIGN KEY (FK)</a:t>
            </a:r>
            <a:endParaRPr/>
          </a:p>
        </p:txBody>
      </p:sp>
      <p:sp>
        <p:nvSpPr>
          <p:cNvPr id="364" name="Google Shape;364;p20"/>
          <p:cNvSpPr/>
          <p:nvPr/>
        </p:nvSpPr>
        <p:spPr>
          <a:xfrm>
            <a:off x="6217920" y="3063240"/>
            <a:ext cx="2788920" cy="475488"/>
          </a:xfrm>
          <a:prstGeom prst="rect">
            <a:avLst/>
          </a:prstGeom>
          <a:solidFill>
            <a:srgbClr val="141F2B"/>
          </a:solidFill>
          <a:ln cap="flat" cmpd="sng" w="9525">
            <a:solidFill>
              <a:srgbClr val="141F2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20"/>
          <p:cNvSpPr txBox="1"/>
          <p:nvPr/>
        </p:nvSpPr>
        <p:spPr>
          <a:xfrm>
            <a:off x="6291072" y="3191256"/>
            <a:ext cx="2642615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8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REFERENCED TABLE</a:t>
            </a:r>
            <a:endParaRPr/>
          </a:p>
        </p:txBody>
      </p:sp>
      <p:sp>
        <p:nvSpPr>
          <p:cNvPr id="366" name="Google Shape;366;p20"/>
          <p:cNvSpPr/>
          <p:nvPr/>
        </p:nvSpPr>
        <p:spPr>
          <a:xfrm>
            <a:off x="9006840" y="3063240"/>
            <a:ext cx="2587752" cy="475488"/>
          </a:xfrm>
          <a:prstGeom prst="rect">
            <a:avLst/>
          </a:prstGeom>
          <a:solidFill>
            <a:srgbClr val="141F2B"/>
          </a:solidFill>
          <a:ln cap="flat" cmpd="sng" w="9525">
            <a:solidFill>
              <a:srgbClr val="141F2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20"/>
          <p:cNvSpPr txBox="1"/>
          <p:nvPr/>
        </p:nvSpPr>
        <p:spPr>
          <a:xfrm>
            <a:off x="9079992" y="3191256"/>
            <a:ext cx="2441448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8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CARDINALITY</a:t>
            </a:r>
            <a:endParaRPr/>
          </a:p>
        </p:txBody>
      </p:sp>
      <p:sp>
        <p:nvSpPr>
          <p:cNvPr id="368" name="Google Shape;368;p20"/>
          <p:cNvSpPr/>
          <p:nvPr/>
        </p:nvSpPr>
        <p:spPr>
          <a:xfrm>
            <a:off x="594360" y="3538728"/>
            <a:ext cx="1965960" cy="448056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8ECE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20"/>
          <p:cNvSpPr txBox="1"/>
          <p:nvPr/>
        </p:nvSpPr>
        <p:spPr>
          <a:xfrm>
            <a:off x="658368" y="3657600"/>
            <a:ext cx="1837943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70" u="none" cap="none" strike="noStrike">
                <a:solidFill>
                  <a:srgbClr val="232B32"/>
                </a:solidFill>
                <a:latin typeface="Arial"/>
                <a:ea typeface="Arial"/>
                <a:cs typeface="Arial"/>
                <a:sym typeface="Arial"/>
              </a:rPr>
              <a:t>CUSTOMERS</a:t>
            </a:r>
            <a:endParaRPr/>
          </a:p>
        </p:txBody>
      </p:sp>
      <p:sp>
        <p:nvSpPr>
          <p:cNvPr id="370" name="Google Shape;370;p20"/>
          <p:cNvSpPr/>
          <p:nvPr/>
        </p:nvSpPr>
        <p:spPr>
          <a:xfrm>
            <a:off x="2560320" y="3538728"/>
            <a:ext cx="1600200" cy="448056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8ECE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20"/>
          <p:cNvSpPr txBox="1"/>
          <p:nvPr/>
        </p:nvSpPr>
        <p:spPr>
          <a:xfrm>
            <a:off x="2624327" y="3657600"/>
            <a:ext cx="1472184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70" u="none" cap="none" strike="noStrike">
                <a:solidFill>
                  <a:srgbClr val="232B32"/>
                </a:solidFill>
                <a:latin typeface="Arial"/>
                <a:ea typeface="Arial"/>
                <a:cs typeface="Arial"/>
                <a:sym typeface="Arial"/>
              </a:rPr>
              <a:t>Customer_ID</a:t>
            </a:r>
            <a:endParaRPr/>
          </a:p>
        </p:txBody>
      </p:sp>
      <p:sp>
        <p:nvSpPr>
          <p:cNvPr id="372" name="Google Shape;372;p20"/>
          <p:cNvSpPr/>
          <p:nvPr/>
        </p:nvSpPr>
        <p:spPr>
          <a:xfrm>
            <a:off x="4160520" y="3538728"/>
            <a:ext cx="2057400" cy="448056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8ECE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20"/>
          <p:cNvSpPr txBox="1"/>
          <p:nvPr/>
        </p:nvSpPr>
        <p:spPr>
          <a:xfrm>
            <a:off x="4224528" y="3657600"/>
            <a:ext cx="1929384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70" u="none" cap="none" strike="noStrike">
                <a:solidFill>
                  <a:srgbClr val="232B32"/>
                </a:solidFill>
                <a:latin typeface="Arial"/>
                <a:ea typeface="Arial"/>
                <a:cs typeface="Arial"/>
                <a:sym typeface="Arial"/>
              </a:rPr>
              <a:t>None (Independent)</a:t>
            </a:r>
            <a:endParaRPr/>
          </a:p>
        </p:txBody>
      </p:sp>
      <p:sp>
        <p:nvSpPr>
          <p:cNvPr id="374" name="Google Shape;374;p20"/>
          <p:cNvSpPr/>
          <p:nvPr/>
        </p:nvSpPr>
        <p:spPr>
          <a:xfrm>
            <a:off x="6217920" y="3538728"/>
            <a:ext cx="2788920" cy="448056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8ECE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20"/>
          <p:cNvSpPr txBox="1"/>
          <p:nvPr/>
        </p:nvSpPr>
        <p:spPr>
          <a:xfrm>
            <a:off x="6281928" y="3657600"/>
            <a:ext cx="2660903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70" u="none" cap="none" strike="noStrike">
                <a:solidFill>
                  <a:srgbClr val="232B32"/>
                </a:solidFill>
                <a:latin typeface="Arial"/>
                <a:ea typeface="Arial"/>
                <a:cs typeface="Arial"/>
                <a:sym typeface="Arial"/>
              </a:rPr>
              <a:t>—</a:t>
            </a:r>
            <a:endParaRPr/>
          </a:p>
        </p:txBody>
      </p:sp>
      <p:sp>
        <p:nvSpPr>
          <p:cNvPr id="376" name="Google Shape;376;p20"/>
          <p:cNvSpPr/>
          <p:nvPr/>
        </p:nvSpPr>
        <p:spPr>
          <a:xfrm>
            <a:off x="9006840" y="3538728"/>
            <a:ext cx="2587752" cy="448056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8ECE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20"/>
          <p:cNvSpPr txBox="1"/>
          <p:nvPr/>
        </p:nvSpPr>
        <p:spPr>
          <a:xfrm>
            <a:off x="9070848" y="3657600"/>
            <a:ext cx="2459736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70" u="none" cap="none" strike="noStrike">
                <a:solidFill>
                  <a:srgbClr val="232B32"/>
                </a:solidFill>
                <a:latin typeface="Arial"/>
                <a:ea typeface="Arial"/>
                <a:cs typeface="Arial"/>
                <a:sym typeface="Arial"/>
              </a:rPr>
              <a:t>1 : N with BOOKINGS</a:t>
            </a:r>
            <a:endParaRPr/>
          </a:p>
        </p:txBody>
      </p:sp>
      <p:sp>
        <p:nvSpPr>
          <p:cNvPr id="378" name="Google Shape;378;p20"/>
          <p:cNvSpPr/>
          <p:nvPr/>
        </p:nvSpPr>
        <p:spPr>
          <a:xfrm>
            <a:off x="594360" y="3986784"/>
            <a:ext cx="1965960" cy="448056"/>
          </a:xfrm>
          <a:prstGeom prst="rect">
            <a:avLst/>
          </a:prstGeom>
          <a:solidFill>
            <a:srgbClr val="F2F4F2"/>
          </a:solidFill>
          <a:ln cap="flat" cmpd="sng" w="9525">
            <a:solidFill>
              <a:srgbClr val="E8ECE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20"/>
          <p:cNvSpPr txBox="1"/>
          <p:nvPr/>
        </p:nvSpPr>
        <p:spPr>
          <a:xfrm>
            <a:off x="658368" y="4105656"/>
            <a:ext cx="1837943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70" u="none" cap="none" strike="noStrike">
                <a:solidFill>
                  <a:srgbClr val="232B32"/>
                </a:solidFill>
                <a:latin typeface="Arial"/>
                <a:ea typeface="Arial"/>
                <a:cs typeface="Arial"/>
                <a:sym typeface="Arial"/>
              </a:rPr>
              <a:t>ROOM_TYPES</a:t>
            </a:r>
            <a:endParaRPr/>
          </a:p>
        </p:txBody>
      </p:sp>
      <p:sp>
        <p:nvSpPr>
          <p:cNvPr id="380" name="Google Shape;380;p20"/>
          <p:cNvSpPr/>
          <p:nvPr/>
        </p:nvSpPr>
        <p:spPr>
          <a:xfrm>
            <a:off x="2560320" y="3986784"/>
            <a:ext cx="1600200" cy="448056"/>
          </a:xfrm>
          <a:prstGeom prst="rect">
            <a:avLst/>
          </a:prstGeom>
          <a:solidFill>
            <a:srgbClr val="F2F4F2"/>
          </a:solidFill>
          <a:ln cap="flat" cmpd="sng" w="9525">
            <a:solidFill>
              <a:srgbClr val="E8ECE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20"/>
          <p:cNvSpPr txBox="1"/>
          <p:nvPr/>
        </p:nvSpPr>
        <p:spPr>
          <a:xfrm>
            <a:off x="2624327" y="4105656"/>
            <a:ext cx="1472184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70" u="none" cap="none" strike="noStrike">
                <a:solidFill>
                  <a:srgbClr val="232B32"/>
                </a:solidFill>
                <a:latin typeface="Arial"/>
                <a:ea typeface="Arial"/>
                <a:cs typeface="Arial"/>
                <a:sym typeface="Arial"/>
              </a:rPr>
              <a:t>Type_ID</a:t>
            </a:r>
            <a:endParaRPr/>
          </a:p>
        </p:txBody>
      </p:sp>
      <p:sp>
        <p:nvSpPr>
          <p:cNvPr id="382" name="Google Shape;382;p20"/>
          <p:cNvSpPr/>
          <p:nvPr/>
        </p:nvSpPr>
        <p:spPr>
          <a:xfrm>
            <a:off x="4160520" y="3986784"/>
            <a:ext cx="2057400" cy="448056"/>
          </a:xfrm>
          <a:prstGeom prst="rect">
            <a:avLst/>
          </a:prstGeom>
          <a:solidFill>
            <a:srgbClr val="F2F4F2"/>
          </a:solidFill>
          <a:ln cap="flat" cmpd="sng" w="9525">
            <a:solidFill>
              <a:srgbClr val="E8ECE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20"/>
          <p:cNvSpPr txBox="1"/>
          <p:nvPr/>
        </p:nvSpPr>
        <p:spPr>
          <a:xfrm>
            <a:off x="4224528" y="4105656"/>
            <a:ext cx="1929384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70" u="none" cap="none" strike="noStrike">
                <a:solidFill>
                  <a:srgbClr val="232B32"/>
                </a:solidFill>
                <a:latin typeface="Arial"/>
                <a:ea typeface="Arial"/>
                <a:cs typeface="Arial"/>
                <a:sym typeface="Arial"/>
              </a:rPr>
              <a:t>None (Catalog)</a:t>
            </a:r>
            <a:endParaRPr/>
          </a:p>
        </p:txBody>
      </p:sp>
      <p:sp>
        <p:nvSpPr>
          <p:cNvPr id="384" name="Google Shape;384;p20"/>
          <p:cNvSpPr/>
          <p:nvPr/>
        </p:nvSpPr>
        <p:spPr>
          <a:xfrm>
            <a:off x="6217920" y="3986784"/>
            <a:ext cx="2788920" cy="448056"/>
          </a:xfrm>
          <a:prstGeom prst="rect">
            <a:avLst/>
          </a:prstGeom>
          <a:solidFill>
            <a:srgbClr val="F2F4F2"/>
          </a:solidFill>
          <a:ln cap="flat" cmpd="sng" w="9525">
            <a:solidFill>
              <a:srgbClr val="E8ECE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20"/>
          <p:cNvSpPr txBox="1"/>
          <p:nvPr/>
        </p:nvSpPr>
        <p:spPr>
          <a:xfrm>
            <a:off x="6281928" y="4105656"/>
            <a:ext cx="2660903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70" u="none" cap="none" strike="noStrike">
                <a:solidFill>
                  <a:srgbClr val="232B32"/>
                </a:solidFill>
                <a:latin typeface="Arial"/>
                <a:ea typeface="Arial"/>
                <a:cs typeface="Arial"/>
                <a:sym typeface="Arial"/>
              </a:rPr>
              <a:t>—</a:t>
            </a:r>
            <a:endParaRPr/>
          </a:p>
        </p:txBody>
      </p:sp>
      <p:sp>
        <p:nvSpPr>
          <p:cNvPr id="386" name="Google Shape;386;p20"/>
          <p:cNvSpPr/>
          <p:nvPr/>
        </p:nvSpPr>
        <p:spPr>
          <a:xfrm>
            <a:off x="9006840" y="3986784"/>
            <a:ext cx="2587752" cy="448056"/>
          </a:xfrm>
          <a:prstGeom prst="rect">
            <a:avLst/>
          </a:prstGeom>
          <a:solidFill>
            <a:srgbClr val="F2F4F2"/>
          </a:solidFill>
          <a:ln cap="flat" cmpd="sng" w="9525">
            <a:solidFill>
              <a:srgbClr val="E8ECE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20"/>
          <p:cNvSpPr txBox="1"/>
          <p:nvPr/>
        </p:nvSpPr>
        <p:spPr>
          <a:xfrm>
            <a:off x="9070848" y="4105656"/>
            <a:ext cx="2459736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70" u="none" cap="none" strike="noStrike">
                <a:solidFill>
                  <a:srgbClr val="232B32"/>
                </a:solidFill>
                <a:latin typeface="Arial"/>
                <a:ea typeface="Arial"/>
                <a:cs typeface="Arial"/>
                <a:sym typeface="Arial"/>
              </a:rPr>
              <a:t>1 : N with ROOMS</a:t>
            </a:r>
            <a:endParaRPr/>
          </a:p>
        </p:txBody>
      </p:sp>
      <p:sp>
        <p:nvSpPr>
          <p:cNvPr id="388" name="Google Shape;388;p20"/>
          <p:cNvSpPr/>
          <p:nvPr/>
        </p:nvSpPr>
        <p:spPr>
          <a:xfrm>
            <a:off x="594360" y="4434840"/>
            <a:ext cx="1965960" cy="448056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8ECE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20"/>
          <p:cNvSpPr txBox="1"/>
          <p:nvPr/>
        </p:nvSpPr>
        <p:spPr>
          <a:xfrm>
            <a:off x="658368" y="4553712"/>
            <a:ext cx="1837943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70" u="none" cap="none" strike="noStrike">
                <a:solidFill>
                  <a:srgbClr val="232B32"/>
                </a:solidFill>
                <a:latin typeface="Arial"/>
                <a:ea typeface="Arial"/>
                <a:cs typeface="Arial"/>
                <a:sym typeface="Arial"/>
              </a:rPr>
              <a:t>ROOMS</a:t>
            </a:r>
            <a:endParaRPr/>
          </a:p>
        </p:txBody>
      </p:sp>
      <p:sp>
        <p:nvSpPr>
          <p:cNvPr id="390" name="Google Shape;390;p20"/>
          <p:cNvSpPr/>
          <p:nvPr/>
        </p:nvSpPr>
        <p:spPr>
          <a:xfrm>
            <a:off x="2560320" y="4434840"/>
            <a:ext cx="1600200" cy="448056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8ECE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20"/>
          <p:cNvSpPr txBox="1"/>
          <p:nvPr/>
        </p:nvSpPr>
        <p:spPr>
          <a:xfrm>
            <a:off x="2624327" y="4553712"/>
            <a:ext cx="1472184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70" u="none" cap="none" strike="noStrike">
                <a:solidFill>
                  <a:srgbClr val="232B32"/>
                </a:solidFill>
                <a:latin typeface="Arial"/>
                <a:ea typeface="Arial"/>
                <a:cs typeface="Arial"/>
                <a:sym typeface="Arial"/>
              </a:rPr>
              <a:t>Room_ID</a:t>
            </a:r>
            <a:endParaRPr/>
          </a:p>
        </p:txBody>
      </p:sp>
      <p:sp>
        <p:nvSpPr>
          <p:cNvPr id="392" name="Google Shape;392;p20"/>
          <p:cNvSpPr/>
          <p:nvPr/>
        </p:nvSpPr>
        <p:spPr>
          <a:xfrm>
            <a:off x="4160520" y="4434840"/>
            <a:ext cx="2057400" cy="448056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8ECE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20"/>
          <p:cNvSpPr txBox="1"/>
          <p:nvPr/>
        </p:nvSpPr>
        <p:spPr>
          <a:xfrm>
            <a:off x="4224528" y="4553712"/>
            <a:ext cx="1929384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70" u="none" cap="none" strike="noStrike">
                <a:solidFill>
                  <a:srgbClr val="232B32"/>
                </a:solidFill>
                <a:latin typeface="Arial"/>
                <a:ea typeface="Arial"/>
                <a:cs typeface="Arial"/>
                <a:sym typeface="Arial"/>
              </a:rPr>
              <a:t>Type_ID</a:t>
            </a:r>
            <a:endParaRPr/>
          </a:p>
        </p:txBody>
      </p:sp>
      <p:sp>
        <p:nvSpPr>
          <p:cNvPr id="394" name="Google Shape;394;p20"/>
          <p:cNvSpPr/>
          <p:nvPr/>
        </p:nvSpPr>
        <p:spPr>
          <a:xfrm>
            <a:off x="6217920" y="4434840"/>
            <a:ext cx="2788920" cy="448056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8ECE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20"/>
          <p:cNvSpPr txBox="1"/>
          <p:nvPr/>
        </p:nvSpPr>
        <p:spPr>
          <a:xfrm>
            <a:off x="6281928" y="4553712"/>
            <a:ext cx="2660903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70" u="none" cap="none" strike="noStrike">
                <a:solidFill>
                  <a:srgbClr val="232B32"/>
                </a:solidFill>
                <a:latin typeface="Arial"/>
                <a:ea typeface="Arial"/>
                <a:cs typeface="Arial"/>
                <a:sym typeface="Arial"/>
              </a:rPr>
              <a:t>ROOM_TYPES (Type_ID)</a:t>
            </a:r>
            <a:endParaRPr/>
          </a:p>
        </p:txBody>
      </p:sp>
      <p:sp>
        <p:nvSpPr>
          <p:cNvPr id="396" name="Google Shape;396;p20"/>
          <p:cNvSpPr/>
          <p:nvPr/>
        </p:nvSpPr>
        <p:spPr>
          <a:xfrm>
            <a:off x="9006840" y="4434840"/>
            <a:ext cx="2587752" cy="448056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8ECE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20"/>
          <p:cNvSpPr txBox="1"/>
          <p:nvPr/>
        </p:nvSpPr>
        <p:spPr>
          <a:xfrm>
            <a:off x="9070848" y="4553712"/>
            <a:ext cx="2459736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70" u="none" cap="none" strike="noStrike">
                <a:solidFill>
                  <a:srgbClr val="232B32"/>
                </a:solidFill>
                <a:latin typeface="Arial"/>
                <a:ea typeface="Arial"/>
                <a:cs typeface="Arial"/>
                <a:sym typeface="Arial"/>
              </a:rPr>
              <a:t>M : 1 with ROOM_TYPES</a:t>
            </a:r>
            <a:endParaRPr/>
          </a:p>
        </p:txBody>
      </p:sp>
      <p:sp>
        <p:nvSpPr>
          <p:cNvPr id="398" name="Google Shape;398;p20"/>
          <p:cNvSpPr/>
          <p:nvPr/>
        </p:nvSpPr>
        <p:spPr>
          <a:xfrm>
            <a:off x="594360" y="4882896"/>
            <a:ext cx="1965960" cy="448056"/>
          </a:xfrm>
          <a:prstGeom prst="rect">
            <a:avLst/>
          </a:prstGeom>
          <a:solidFill>
            <a:srgbClr val="F2F4F2"/>
          </a:solidFill>
          <a:ln cap="flat" cmpd="sng" w="9525">
            <a:solidFill>
              <a:srgbClr val="E8ECE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20"/>
          <p:cNvSpPr txBox="1"/>
          <p:nvPr/>
        </p:nvSpPr>
        <p:spPr>
          <a:xfrm>
            <a:off x="658368" y="5001768"/>
            <a:ext cx="1837943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70" u="none" cap="none" strike="noStrike">
                <a:solidFill>
                  <a:srgbClr val="232B32"/>
                </a:solidFill>
                <a:latin typeface="Arial"/>
                <a:ea typeface="Arial"/>
                <a:cs typeface="Arial"/>
                <a:sym typeface="Arial"/>
              </a:rPr>
              <a:t>BOOKINGS</a:t>
            </a:r>
            <a:endParaRPr/>
          </a:p>
        </p:txBody>
      </p:sp>
      <p:sp>
        <p:nvSpPr>
          <p:cNvPr id="400" name="Google Shape;400;p20"/>
          <p:cNvSpPr/>
          <p:nvPr/>
        </p:nvSpPr>
        <p:spPr>
          <a:xfrm>
            <a:off x="2560320" y="4882896"/>
            <a:ext cx="1600200" cy="448056"/>
          </a:xfrm>
          <a:prstGeom prst="rect">
            <a:avLst/>
          </a:prstGeom>
          <a:solidFill>
            <a:srgbClr val="F2F4F2"/>
          </a:solidFill>
          <a:ln cap="flat" cmpd="sng" w="9525">
            <a:solidFill>
              <a:srgbClr val="E8ECE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20"/>
          <p:cNvSpPr txBox="1"/>
          <p:nvPr/>
        </p:nvSpPr>
        <p:spPr>
          <a:xfrm>
            <a:off x="2624327" y="5001768"/>
            <a:ext cx="1472184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70" u="none" cap="none" strike="noStrike">
                <a:solidFill>
                  <a:srgbClr val="232B32"/>
                </a:solidFill>
                <a:latin typeface="Arial"/>
                <a:ea typeface="Arial"/>
                <a:cs typeface="Arial"/>
                <a:sym typeface="Arial"/>
              </a:rPr>
              <a:t>Booking_ID</a:t>
            </a:r>
            <a:endParaRPr/>
          </a:p>
        </p:txBody>
      </p:sp>
      <p:sp>
        <p:nvSpPr>
          <p:cNvPr id="402" name="Google Shape;402;p20"/>
          <p:cNvSpPr/>
          <p:nvPr/>
        </p:nvSpPr>
        <p:spPr>
          <a:xfrm>
            <a:off x="4160520" y="4882896"/>
            <a:ext cx="2057400" cy="448056"/>
          </a:xfrm>
          <a:prstGeom prst="rect">
            <a:avLst/>
          </a:prstGeom>
          <a:solidFill>
            <a:srgbClr val="F2F4F2"/>
          </a:solidFill>
          <a:ln cap="flat" cmpd="sng" w="9525">
            <a:solidFill>
              <a:srgbClr val="E8ECE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20"/>
          <p:cNvSpPr txBox="1"/>
          <p:nvPr/>
        </p:nvSpPr>
        <p:spPr>
          <a:xfrm>
            <a:off x="4224528" y="5001768"/>
            <a:ext cx="1929384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70" u="none" cap="none" strike="noStrike">
                <a:solidFill>
                  <a:srgbClr val="232B32"/>
                </a:solidFill>
                <a:latin typeface="Arial"/>
                <a:ea typeface="Arial"/>
                <a:cs typeface="Arial"/>
                <a:sym typeface="Arial"/>
              </a:rPr>
              <a:t>Customer_ID, Room_ID</a:t>
            </a:r>
            <a:endParaRPr/>
          </a:p>
        </p:txBody>
      </p:sp>
      <p:sp>
        <p:nvSpPr>
          <p:cNvPr id="404" name="Google Shape;404;p20"/>
          <p:cNvSpPr/>
          <p:nvPr/>
        </p:nvSpPr>
        <p:spPr>
          <a:xfrm>
            <a:off x="6217920" y="4882896"/>
            <a:ext cx="2788920" cy="448056"/>
          </a:xfrm>
          <a:prstGeom prst="rect">
            <a:avLst/>
          </a:prstGeom>
          <a:solidFill>
            <a:srgbClr val="F2F4F2"/>
          </a:solidFill>
          <a:ln cap="flat" cmpd="sng" w="9525">
            <a:solidFill>
              <a:srgbClr val="E8ECE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20"/>
          <p:cNvSpPr txBox="1"/>
          <p:nvPr/>
        </p:nvSpPr>
        <p:spPr>
          <a:xfrm>
            <a:off x="6281928" y="5001768"/>
            <a:ext cx="2660903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70" u="none" cap="none" strike="noStrike">
                <a:solidFill>
                  <a:srgbClr val="232B32"/>
                </a:solidFill>
                <a:latin typeface="Arial"/>
                <a:ea typeface="Arial"/>
                <a:cs typeface="Arial"/>
                <a:sym typeface="Arial"/>
              </a:rPr>
              <a:t>CUSTOMERS, ROOMS</a:t>
            </a:r>
            <a:endParaRPr/>
          </a:p>
        </p:txBody>
      </p:sp>
      <p:sp>
        <p:nvSpPr>
          <p:cNvPr id="406" name="Google Shape;406;p20"/>
          <p:cNvSpPr/>
          <p:nvPr/>
        </p:nvSpPr>
        <p:spPr>
          <a:xfrm>
            <a:off x="9006840" y="4882896"/>
            <a:ext cx="2587752" cy="448056"/>
          </a:xfrm>
          <a:prstGeom prst="rect">
            <a:avLst/>
          </a:prstGeom>
          <a:solidFill>
            <a:srgbClr val="F2F4F2"/>
          </a:solidFill>
          <a:ln cap="flat" cmpd="sng" w="9525">
            <a:solidFill>
              <a:srgbClr val="E8ECE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20"/>
          <p:cNvSpPr txBox="1"/>
          <p:nvPr/>
        </p:nvSpPr>
        <p:spPr>
          <a:xfrm>
            <a:off x="9070848" y="5001768"/>
            <a:ext cx="2459736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70" u="none" cap="none" strike="noStrike">
                <a:solidFill>
                  <a:srgbClr val="232B32"/>
                </a:solidFill>
                <a:latin typeface="Arial"/>
                <a:ea typeface="Arial"/>
                <a:cs typeface="Arial"/>
                <a:sym typeface="Arial"/>
              </a:rPr>
              <a:t>M : 1 for both parents</a:t>
            </a:r>
            <a:endParaRPr/>
          </a:p>
        </p:txBody>
      </p:sp>
      <p:sp>
        <p:nvSpPr>
          <p:cNvPr id="408" name="Google Shape;408;p20"/>
          <p:cNvSpPr/>
          <p:nvPr/>
        </p:nvSpPr>
        <p:spPr>
          <a:xfrm>
            <a:off x="594360" y="5330952"/>
            <a:ext cx="1965960" cy="448056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8ECE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20"/>
          <p:cNvSpPr txBox="1"/>
          <p:nvPr/>
        </p:nvSpPr>
        <p:spPr>
          <a:xfrm>
            <a:off x="658368" y="5449824"/>
            <a:ext cx="1837943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70" u="none" cap="none" strike="noStrike">
                <a:solidFill>
                  <a:srgbClr val="232B32"/>
                </a:solidFill>
                <a:latin typeface="Arial"/>
                <a:ea typeface="Arial"/>
                <a:cs typeface="Arial"/>
                <a:sym typeface="Arial"/>
              </a:rPr>
              <a:t>PAYMENTS</a:t>
            </a:r>
            <a:endParaRPr/>
          </a:p>
        </p:txBody>
      </p:sp>
      <p:sp>
        <p:nvSpPr>
          <p:cNvPr id="410" name="Google Shape;410;p20"/>
          <p:cNvSpPr/>
          <p:nvPr/>
        </p:nvSpPr>
        <p:spPr>
          <a:xfrm>
            <a:off x="2560320" y="5330952"/>
            <a:ext cx="1600200" cy="448056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8ECE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20"/>
          <p:cNvSpPr txBox="1"/>
          <p:nvPr/>
        </p:nvSpPr>
        <p:spPr>
          <a:xfrm>
            <a:off x="2624327" y="5449824"/>
            <a:ext cx="1472184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70" u="none" cap="none" strike="noStrike">
                <a:solidFill>
                  <a:srgbClr val="232B32"/>
                </a:solidFill>
                <a:latin typeface="Arial"/>
                <a:ea typeface="Arial"/>
                <a:cs typeface="Arial"/>
                <a:sym typeface="Arial"/>
              </a:rPr>
              <a:t>Payment_ID</a:t>
            </a:r>
            <a:endParaRPr/>
          </a:p>
        </p:txBody>
      </p:sp>
      <p:sp>
        <p:nvSpPr>
          <p:cNvPr id="412" name="Google Shape;412;p20"/>
          <p:cNvSpPr/>
          <p:nvPr/>
        </p:nvSpPr>
        <p:spPr>
          <a:xfrm>
            <a:off x="4160520" y="5330952"/>
            <a:ext cx="2057400" cy="448056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8ECE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20"/>
          <p:cNvSpPr txBox="1"/>
          <p:nvPr/>
        </p:nvSpPr>
        <p:spPr>
          <a:xfrm>
            <a:off x="4224528" y="5449824"/>
            <a:ext cx="1929384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70" u="none" cap="none" strike="noStrike">
                <a:solidFill>
                  <a:srgbClr val="232B32"/>
                </a:solidFill>
                <a:latin typeface="Arial"/>
                <a:ea typeface="Arial"/>
                <a:cs typeface="Arial"/>
                <a:sym typeface="Arial"/>
              </a:rPr>
              <a:t>Booking_ID</a:t>
            </a:r>
            <a:endParaRPr/>
          </a:p>
        </p:txBody>
      </p:sp>
      <p:sp>
        <p:nvSpPr>
          <p:cNvPr id="414" name="Google Shape;414;p20"/>
          <p:cNvSpPr/>
          <p:nvPr/>
        </p:nvSpPr>
        <p:spPr>
          <a:xfrm>
            <a:off x="6217920" y="5330952"/>
            <a:ext cx="2788920" cy="448056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8ECE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20"/>
          <p:cNvSpPr txBox="1"/>
          <p:nvPr/>
        </p:nvSpPr>
        <p:spPr>
          <a:xfrm>
            <a:off x="6281928" y="5449824"/>
            <a:ext cx="2660903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70" u="none" cap="none" strike="noStrike">
                <a:solidFill>
                  <a:srgbClr val="232B32"/>
                </a:solidFill>
                <a:latin typeface="Arial"/>
                <a:ea typeface="Arial"/>
                <a:cs typeface="Arial"/>
                <a:sym typeface="Arial"/>
              </a:rPr>
              <a:t>BOOKINGS (Booking_ID)</a:t>
            </a:r>
            <a:endParaRPr/>
          </a:p>
        </p:txBody>
      </p:sp>
      <p:sp>
        <p:nvSpPr>
          <p:cNvPr id="416" name="Google Shape;416;p20"/>
          <p:cNvSpPr/>
          <p:nvPr/>
        </p:nvSpPr>
        <p:spPr>
          <a:xfrm>
            <a:off x="9006840" y="5330952"/>
            <a:ext cx="2587752" cy="448056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8ECE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20"/>
          <p:cNvSpPr txBox="1"/>
          <p:nvPr/>
        </p:nvSpPr>
        <p:spPr>
          <a:xfrm>
            <a:off x="9070848" y="5449824"/>
            <a:ext cx="2459736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70" u="none" cap="none" strike="noStrike">
                <a:solidFill>
                  <a:srgbClr val="232B32"/>
                </a:solidFill>
                <a:latin typeface="Arial"/>
                <a:ea typeface="Arial"/>
                <a:cs typeface="Arial"/>
                <a:sym typeface="Arial"/>
              </a:rPr>
              <a:t>1 : N (Installments/Advance)</a:t>
            </a:r>
            <a:endParaRPr/>
          </a:p>
        </p:txBody>
      </p:sp>
      <p:sp>
        <p:nvSpPr>
          <p:cNvPr id="418" name="Google Shape;418;p20"/>
          <p:cNvSpPr/>
          <p:nvPr/>
        </p:nvSpPr>
        <p:spPr>
          <a:xfrm>
            <a:off x="594360" y="5779008"/>
            <a:ext cx="1965960" cy="448056"/>
          </a:xfrm>
          <a:prstGeom prst="rect">
            <a:avLst/>
          </a:prstGeom>
          <a:solidFill>
            <a:srgbClr val="F2F4F2"/>
          </a:solidFill>
          <a:ln cap="flat" cmpd="sng" w="9525">
            <a:solidFill>
              <a:srgbClr val="E8ECE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20"/>
          <p:cNvSpPr txBox="1"/>
          <p:nvPr/>
        </p:nvSpPr>
        <p:spPr>
          <a:xfrm>
            <a:off x="658368" y="5897880"/>
            <a:ext cx="1837943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70" u="none" cap="none" strike="noStrike">
                <a:solidFill>
                  <a:srgbClr val="232B32"/>
                </a:solidFill>
                <a:latin typeface="Arial"/>
                <a:ea typeface="Arial"/>
                <a:cs typeface="Arial"/>
                <a:sym typeface="Arial"/>
              </a:rPr>
              <a:t>CHECK_IN_OUT</a:t>
            </a:r>
            <a:endParaRPr/>
          </a:p>
        </p:txBody>
      </p:sp>
      <p:sp>
        <p:nvSpPr>
          <p:cNvPr id="420" name="Google Shape;420;p20"/>
          <p:cNvSpPr/>
          <p:nvPr/>
        </p:nvSpPr>
        <p:spPr>
          <a:xfrm>
            <a:off x="2560320" y="5779008"/>
            <a:ext cx="1600200" cy="448056"/>
          </a:xfrm>
          <a:prstGeom prst="rect">
            <a:avLst/>
          </a:prstGeom>
          <a:solidFill>
            <a:srgbClr val="F2F4F2"/>
          </a:solidFill>
          <a:ln cap="flat" cmpd="sng" w="9525">
            <a:solidFill>
              <a:srgbClr val="E8ECE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20"/>
          <p:cNvSpPr txBox="1"/>
          <p:nvPr/>
        </p:nvSpPr>
        <p:spPr>
          <a:xfrm>
            <a:off x="2624327" y="5897880"/>
            <a:ext cx="1472184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70" u="none" cap="none" strike="noStrike">
                <a:solidFill>
                  <a:srgbClr val="232B32"/>
                </a:solidFill>
                <a:latin typeface="Arial"/>
                <a:ea typeface="Arial"/>
                <a:cs typeface="Arial"/>
                <a:sym typeface="Arial"/>
              </a:rPr>
              <a:t>Checkin_ID</a:t>
            </a:r>
            <a:endParaRPr/>
          </a:p>
        </p:txBody>
      </p:sp>
      <p:sp>
        <p:nvSpPr>
          <p:cNvPr id="422" name="Google Shape;422;p20"/>
          <p:cNvSpPr/>
          <p:nvPr/>
        </p:nvSpPr>
        <p:spPr>
          <a:xfrm>
            <a:off x="4160520" y="5779008"/>
            <a:ext cx="2057400" cy="448056"/>
          </a:xfrm>
          <a:prstGeom prst="rect">
            <a:avLst/>
          </a:prstGeom>
          <a:solidFill>
            <a:srgbClr val="F2F4F2"/>
          </a:solidFill>
          <a:ln cap="flat" cmpd="sng" w="9525">
            <a:solidFill>
              <a:srgbClr val="E8ECE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20"/>
          <p:cNvSpPr txBox="1"/>
          <p:nvPr/>
        </p:nvSpPr>
        <p:spPr>
          <a:xfrm>
            <a:off x="4224528" y="5897880"/>
            <a:ext cx="1929384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70" u="none" cap="none" strike="noStrike">
                <a:solidFill>
                  <a:srgbClr val="232B32"/>
                </a:solidFill>
                <a:latin typeface="Arial"/>
                <a:ea typeface="Arial"/>
                <a:cs typeface="Arial"/>
                <a:sym typeface="Arial"/>
              </a:rPr>
              <a:t>Booking_ID (UNIQUE)</a:t>
            </a:r>
            <a:endParaRPr/>
          </a:p>
        </p:txBody>
      </p:sp>
      <p:sp>
        <p:nvSpPr>
          <p:cNvPr id="424" name="Google Shape;424;p20"/>
          <p:cNvSpPr/>
          <p:nvPr/>
        </p:nvSpPr>
        <p:spPr>
          <a:xfrm>
            <a:off x="6217920" y="5779008"/>
            <a:ext cx="2788920" cy="448056"/>
          </a:xfrm>
          <a:prstGeom prst="rect">
            <a:avLst/>
          </a:prstGeom>
          <a:solidFill>
            <a:srgbClr val="F2F4F2"/>
          </a:solidFill>
          <a:ln cap="flat" cmpd="sng" w="9525">
            <a:solidFill>
              <a:srgbClr val="E8ECE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20"/>
          <p:cNvSpPr txBox="1"/>
          <p:nvPr/>
        </p:nvSpPr>
        <p:spPr>
          <a:xfrm>
            <a:off x="6281928" y="5897880"/>
            <a:ext cx="2660903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70" u="none" cap="none" strike="noStrike">
                <a:solidFill>
                  <a:srgbClr val="232B32"/>
                </a:solidFill>
                <a:latin typeface="Arial"/>
                <a:ea typeface="Arial"/>
                <a:cs typeface="Arial"/>
                <a:sym typeface="Arial"/>
              </a:rPr>
              <a:t>BOOKINGS (Booking_ID)</a:t>
            </a:r>
            <a:endParaRPr/>
          </a:p>
        </p:txBody>
      </p:sp>
      <p:sp>
        <p:nvSpPr>
          <p:cNvPr id="426" name="Google Shape;426;p20"/>
          <p:cNvSpPr/>
          <p:nvPr/>
        </p:nvSpPr>
        <p:spPr>
          <a:xfrm>
            <a:off x="9006840" y="5779008"/>
            <a:ext cx="2587752" cy="448056"/>
          </a:xfrm>
          <a:prstGeom prst="rect">
            <a:avLst/>
          </a:prstGeom>
          <a:solidFill>
            <a:srgbClr val="F2F4F2"/>
          </a:solidFill>
          <a:ln cap="flat" cmpd="sng" w="9525">
            <a:solidFill>
              <a:srgbClr val="E8ECE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20"/>
          <p:cNvSpPr txBox="1"/>
          <p:nvPr/>
        </p:nvSpPr>
        <p:spPr>
          <a:xfrm>
            <a:off x="9070848" y="5897880"/>
            <a:ext cx="2459736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70" u="none" cap="none" strike="noStrike">
                <a:solidFill>
                  <a:srgbClr val="232B32"/>
                </a:solidFill>
                <a:latin typeface="Arial"/>
                <a:ea typeface="Arial"/>
                <a:cs typeface="Arial"/>
                <a:sym typeface="Arial"/>
              </a:rPr>
              <a:t>1 : 0..1 (Single Stay Log)</a:t>
            </a:r>
            <a:endParaRPr/>
          </a:p>
        </p:txBody>
      </p:sp>
      <p:sp>
        <p:nvSpPr>
          <p:cNvPr id="428" name="Google Shape;428;p20"/>
          <p:cNvSpPr txBox="1"/>
          <p:nvPr/>
        </p:nvSpPr>
        <p:spPr>
          <a:xfrm>
            <a:off x="594360" y="6510528"/>
            <a:ext cx="43891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5B676F"/>
                </a:solidFill>
                <a:latin typeface="Arial"/>
                <a:ea typeface="Arial"/>
                <a:cs typeface="Arial"/>
                <a:sym typeface="Arial"/>
              </a:rPr>
              <a:t>TEAM 15  •  HOTEL MANAGEMENT SYSTEM</a:t>
            </a:r>
            <a:endParaRPr/>
          </a:p>
        </p:txBody>
      </p:sp>
      <p:sp>
        <p:nvSpPr>
          <p:cNvPr id="429" name="Google Shape;429;p20"/>
          <p:cNvSpPr txBox="1"/>
          <p:nvPr/>
        </p:nvSpPr>
        <p:spPr>
          <a:xfrm>
            <a:off x="10835640" y="6492240"/>
            <a:ext cx="749808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5B676F"/>
                </a:solidFill>
                <a:latin typeface="Arial"/>
                <a:ea typeface="Arial"/>
                <a:cs typeface="Arial"/>
                <a:sym typeface="Arial"/>
              </a:rPr>
              <a:t>07 / 13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6F1"/>
        </a:solidFill>
      </p:bgPr>
    </p:bg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2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3846A"/>
          </a:solidFill>
          <a:ln cap="flat" cmpd="sng" w="9525">
            <a:solidFill>
              <a:srgbClr val="23846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p21"/>
          <p:cNvSpPr/>
          <p:nvPr/>
        </p:nvSpPr>
        <p:spPr>
          <a:xfrm>
            <a:off x="11475720" y="0"/>
            <a:ext cx="713232" cy="73152"/>
          </a:xfrm>
          <a:prstGeom prst="rect">
            <a:avLst/>
          </a:prstGeom>
          <a:solidFill>
            <a:srgbClr val="CD9D48"/>
          </a:solidFill>
          <a:ln cap="flat" cmpd="sng" w="9525">
            <a:solidFill>
              <a:srgbClr val="CD9D4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21"/>
          <p:cNvSpPr txBox="1"/>
          <p:nvPr/>
        </p:nvSpPr>
        <p:spPr>
          <a:xfrm>
            <a:off x="594360" y="475488"/>
            <a:ext cx="89611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141F2B"/>
                </a:solidFill>
                <a:latin typeface="Arial"/>
                <a:ea typeface="Arial"/>
                <a:cs typeface="Arial"/>
                <a:sym typeface="Arial"/>
              </a:rPr>
              <a:t>Normalization &amp; Constraints</a:t>
            </a:r>
            <a:endParaRPr/>
          </a:p>
        </p:txBody>
      </p:sp>
      <p:sp>
        <p:nvSpPr>
          <p:cNvPr id="437" name="Google Shape;437;p21"/>
          <p:cNvSpPr txBox="1"/>
          <p:nvPr/>
        </p:nvSpPr>
        <p:spPr>
          <a:xfrm>
            <a:off x="612648" y="1005840"/>
            <a:ext cx="104241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69747A"/>
                </a:solidFill>
                <a:latin typeface="Arial"/>
                <a:ea typeface="Arial"/>
                <a:cs typeface="Arial"/>
                <a:sym typeface="Arial"/>
              </a:rPr>
              <a:t>Hotel Management System  •  Normalization &amp; Constraints</a:t>
            </a:r>
            <a:endParaRPr/>
          </a:p>
        </p:txBody>
      </p:sp>
      <p:sp>
        <p:nvSpPr>
          <p:cNvPr id="438" name="Google Shape;438;p21"/>
          <p:cNvSpPr txBox="1"/>
          <p:nvPr/>
        </p:nvSpPr>
        <p:spPr>
          <a:xfrm>
            <a:off x="640080" y="160020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166752"/>
                </a:solidFill>
                <a:latin typeface="Arial"/>
                <a:ea typeface="Arial"/>
                <a:cs typeface="Arial"/>
                <a:sym typeface="Arial"/>
              </a:rPr>
              <a:t>NORMALIZATION PROGRESSION</a:t>
            </a:r>
            <a:endParaRPr/>
          </a:p>
        </p:txBody>
      </p:sp>
      <p:sp>
        <p:nvSpPr>
          <p:cNvPr id="439" name="Google Shape;439;p21"/>
          <p:cNvSpPr/>
          <p:nvPr/>
        </p:nvSpPr>
        <p:spPr>
          <a:xfrm>
            <a:off x="640080" y="2011680"/>
            <a:ext cx="5166360" cy="987552"/>
          </a:xfrm>
          <a:prstGeom prst="roundRect">
            <a:avLst>
              <a:gd fmla="val 12000" name="adj"/>
            </a:avLst>
          </a:prstGeom>
          <a:solidFill>
            <a:srgbClr val="FFFFFF"/>
          </a:solidFill>
          <a:ln cap="flat" cmpd="sng" w="9525">
            <a:solidFill>
              <a:srgbClr val="E8ECE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" name="Google Shape;440;p21"/>
          <p:cNvSpPr/>
          <p:nvPr/>
        </p:nvSpPr>
        <p:spPr>
          <a:xfrm>
            <a:off x="804672" y="2185416"/>
            <a:ext cx="621792" cy="621792"/>
          </a:xfrm>
          <a:prstGeom prst="roundRect">
            <a:avLst>
              <a:gd fmla="val 12000" name="adj"/>
            </a:avLst>
          </a:prstGeom>
          <a:solidFill>
            <a:srgbClr val="23846A"/>
          </a:solidFill>
          <a:ln cap="flat" cmpd="sng" w="9525">
            <a:solidFill>
              <a:srgbClr val="23846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p21"/>
          <p:cNvSpPr txBox="1"/>
          <p:nvPr/>
        </p:nvSpPr>
        <p:spPr>
          <a:xfrm>
            <a:off x="822960" y="2359152"/>
            <a:ext cx="585216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1NF</a:t>
            </a:r>
            <a:endParaRPr/>
          </a:p>
        </p:txBody>
      </p:sp>
      <p:sp>
        <p:nvSpPr>
          <p:cNvPr id="442" name="Google Shape;442;p21"/>
          <p:cNvSpPr txBox="1"/>
          <p:nvPr/>
        </p:nvSpPr>
        <p:spPr>
          <a:xfrm>
            <a:off x="1664208" y="2194560"/>
            <a:ext cx="34747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41F2B"/>
                </a:solidFill>
                <a:latin typeface="Arial"/>
                <a:ea typeface="Arial"/>
                <a:cs typeface="Arial"/>
                <a:sym typeface="Arial"/>
              </a:rPr>
              <a:t>Atomic attributes</a:t>
            </a:r>
            <a:endParaRPr/>
          </a:p>
        </p:txBody>
      </p:sp>
      <p:sp>
        <p:nvSpPr>
          <p:cNvPr id="443" name="Google Shape;443;p21"/>
          <p:cNvSpPr txBox="1"/>
          <p:nvPr/>
        </p:nvSpPr>
        <p:spPr>
          <a:xfrm>
            <a:off x="1664208" y="2468880"/>
            <a:ext cx="37947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60" u="none" cap="none" strike="noStrike">
                <a:solidFill>
                  <a:srgbClr val="5B676F"/>
                </a:solidFill>
                <a:latin typeface="Arial"/>
                <a:ea typeface="Arial"/>
                <a:cs typeface="Arial"/>
                <a:sym typeface="Arial"/>
              </a:rPr>
              <a:t>All attributes are atomic. Singular phone numbers, distinct first/last names, and atomic date values eliminate multivalued repeating columns.</a:t>
            </a:r>
            <a:endParaRPr/>
          </a:p>
        </p:txBody>
      </p:sp>
      <p:sp>
        <p:nvSpPr>
          <p:cNvPr id="444" name="Google Shape;444;p21"/>
          <p:cNvSpPr/>
          <p:nvPr/>
        </p:nvSpPr>
        <p:spPr>
          <a:xfrm>
            <a:off x="640080" y="3246120"/>
            <a:ext cx="5166360" cy="987552"/>
          </a:xfrm>
          <a:prstGeom prst="roundRect">
            <a:avLst>
              <a:gd fmla="val 12000" name="adj"/>
            </a:avLst>
          </a:prstGeom>
          <a:solidFill>
            <a:srgbClr val="FFFFFF"/>
          </a:solidFill>
          <a:ln cap="flat" cmpd="sng" w="9525">
            <a:solidFill>
              <a:srgbClr val="E8ECE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p21"/>
          <p:cNvSpPr/>
          <p:nvPr/>
        </p:nvSpPr>
        <p:spPr>
          <a:xfrm>
            <a:off x="804672" y="3419856"/>
            <a:ext cx="621792" cy="621792"/>
          </a:xfrm>
          <a:prstGeom prst="roundRect">
            <a:avLst>
              <a:gd fmla="val 12000" name="adj"/>
            </a:avLst>
          </a:prstGeom>
          <a:solidFill>
            <a:srgbClr val="CD9D48"/>
          </a:solidFill>
          <a:ln cap="flat" cmpd="sng" w="9525">
            <a:solidFill>
              <a:srgbClr val="CD9D4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p21"/>
          <p:cNvSpPr txBox="1"/>
          <p:nvPr/>
        </p:nvSpPr>
        <p:spPr>
          <a:xfrm>
            <a:off x="822960" y="3593592"/>
            <a:ext cx="585216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2NF</a:t>
            </a:r>
            <a:endParaRPr/>
          </a:p>
        </p:txBody>
      </p:sp>
      <p:sp>
        <p:nvSpPr>
          <p:cNvPr id="447" name="Google Shape;447;p21"/>
          <p:cNvSpPr txBox="1"/>
          <p:nvPr/>
        </p:nvSpPr>
        <p:spPr>
          <a:xfrm>
            <a:off x="1664208" y="3429000"/>
            <a:ext cx="34747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41F2B"/>
                </a:solidFill>
                <a:latin typeface="Arial"/>
                <a:ea typeface="Arial"/>
                <a:cs typeface="Arial"/>
                <a:sym typeface="Arial"/>
              </a:rPr>
              <a:t>Full dependency</a:t>
            </a:r>
            <a:endParaRPr/>
          </a:p>
        </p:txBody>
      </p:sp>
      <p:sp>
        <p:nvSpPr>
          <p:cNvPr id="448" name="Google Shape;448;p21"/>
          <p:cNvSpPr txBox="1"/>
          <p:nvPr/>
        </p:nvSpPr>
        <p:spPr>
          <a:xfrm>
            <a:off x="1664208" y="3703320"/>
            <a:ext cx="37947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60" u="none" cap="none" strike="noStrike">
                <a:solidFill>
                  <a:srgbClr val="5B676F"/>
                </a:solidFill>
                <a:latin typeface="Arial"/>
                <a:ea typeface="Arial"/>
                <a:cs typeface="Arial"/>
                <a:sym typeface="Arial"/>
              </a:rPr>
              <a:t>Eliminated partial functional dependencies. Since all tables use single-column primary keys, all non-key attributes depend fully on the primary key.</a:t>
            </a:r>
            <a:endParaRPr/>
          </a:p>
        </p:txBody>
      </p:sp>
      <p:sp>
        <p:nvSpPr>
          <p:cNvPr id="449" name="Google Shape;449;p21"/>
          <p:cNvSpPr/>
          <p:nvPr/>
        </p:nvSpPr>
        <p:spPr>
          <a:xfrm>
            <a:off x="640080" y="4480560"/>
            <a:ext cx="5166360" cy="987552"/>
          </a:xfrm>
          <a:prstGeom prst="roundRect">
            <a:avLst>
              <a:gd fmla="val 12000" name="adj"/>
            </a:avLst>
          </a:prstGeom>
          <a:solidFill>
            <a:srgbClr val="FFFFFF"/>
          </a:solidFill>
          <a:ln cap="flat" cmpd="sng" w="9525">
            <a:solidFill>
              <a:srgbClr val="E8ECE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" name="Google Shape;450;p21"/>
          <p:cNvSpPr/>
          <p:nvPr/>
        </p:nvSpPr>
        <p:spPr>
          <a:xfrm>
            <a:off x="804672" y="4654296"/>
            <a:ext cx="621792" cy="621792"/>
          </a:xfrm>
          <a:prstGeom prst="roundRect">
            <a:avLst>
              <a:gd fmla="val 12000" name="adj"/>
            </a:avLst>
          </a:prstGeom>
          <a:solidFill>
            <a:srgbClr val="406AA6"/>
          </a:solidFill>
          <a:ln cap="flat" cmpd="sng" w="9525">
            <a:solidFill>
              <a:srgbClr val="406AA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p21"/>
          <p:cNvSpPr txBox="1"/>
          <p:nvPr/>
        </p:nvSpPr>
        <p:spPr>
          <a:xfrm>
            <a:off x="822960" y="4828032"/>
            <a:ext cx="585216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3NF</a:t>
            </a:r>
            <a:endParaRPr/>
          </a:p>
        </p:txBody>
      </p:sp>
      <p:sp>
        <p:nvSpPr>
          <p:cNvPr id="452" name="Google Shape;452;p21"/>
          <p:cNvSpPr txBox="1"/>
          <p:nvPr/>
        </p:nvSpPr>
        <p:spPr>
          <a:xfrm>
            <a:off x="1664208" y="4663440"/>
            <a:ext cx="34747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41F2B"/>
                </a:solidFill>
                <a:latin typeface="Arial"/>
                <a:ea typeface="Arial"/>
                <a:cs typeface="Arial"/>
                <a:sym typeface="Arial"/>
              </a:rPr>
              <a:t>No transitive dependency</a:t>
            </a:r>
            <a:endParaRPr/>
          </a:p>
        </p:txBody>
      </p:sp>
      <p:sp>
        <p:nvSpPr>
          <p:cNvPr id="453" name="Google Shape;453;p21"/>
          <p:cNvSpPr txBox="1"/>
          <p:nvPr/>
        </p:nvSpPr>
        <p:spPr>
          <a:xfrm>
            <a:off x="1664208" y="4937760"/>
            <a:ext cx="37947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60" u="none" cap="none" strike="noStrike">
                <a:solidFill>
                  <a:srgbClr val="5B676F"/>
                </a:solidFill>
                <a:latin typeface="Arial"/>
                <a:ea typeface="Arial"/>
                <a:cs typeface="Arial"/>
                <a:sym typeface="Arial"/>
              </a:rPr>
              <a:t>Removed transitive dependencies. Room category specifications (Bed_Type, Is_AC, Base_Price) reside in room_types, avoiding redundancy in rooms.</a:t>
            </a:r>
            <a:endParaRPr/>
          </a:p>
        </p:txBody>
      </p:sp>
      <p:sp>
        <p:nvSpPr>
          <p:cNvPr id="454" name="Google Shape;454;p21"/>
          <p:cNvSpPr txBox="1"/>
          <p:nvPr/>
        </p:nvSpPr>
        <p:spPr>
          <a:xfrm>
            <a:off x="6144768" y="1600200"/>
            <a:ext cx="4023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166752"/>
                </a:solidFill>
                <a:latin typeface="Arial"/>
                <a:ea typeface="Arial"/>
                <a:cs typeface="Arial"/>
                <a:sym typeface="Arial"/>
              </a:rPr>
              <a:t>APPLIED CONSTRAINTS IN SQL</a:t>
            </a:r>
            <a:endParaRPr/>
          </a:p>
        </p:txBody>
      </p:sp>
      <p:sp>
        <p:nvSpPr>
          <p:cNvPr id="455" name="Google Shape;455;p21"/>
          <p:cNvSpPr/>
          <p:nvPr/>
        </p:nvSpPr>
        <p:spPr>
          <a:xfrm>
            <a:off x="6144768" y="2011680"/>
            <a:ext cx="5440680" cy="603504"/>
          </a:xfrm>
          <a:prstGeom prst="roundRect">
            <a:avLst>
              <a:gd fmla="val 12000" name="adj"/>
            </a:avLst>
          </a:prstGeom>
          <a:solidFill>
            <a:srgbClr val="FFFFFF"/>
          </a:solidFill>
          <a:ln cap="flat" cmpd="sng" w="9525">
            <a:solidFill>
              <a:srgbClr val="E8ECE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" name="Google Shape;456;p21"/>
          <p:cNvSpPr/>
          <p:nvPr/>
        </p:nvSpPr>
        <p:spPr>
          <a:xfrm>
            <a:off x="6309360" y="2176272"/>
            <a:ext cx="256032" cy="256032"/>
          </a:xfrm>
          <a:prstGeom prst="roundRect">
            <a:avLst>
              <a:gd fmla="val 12000" name="adj"/>
            </a:avLst>
          </a:prstGeom>
          <a:solidFill>
            <a:srgbClr val="23846A"/>
          </a:solidFill>
          <a:ln cap="flat" cmpd="sng" w="9525">
            <a:solidFill>
              <a:srgbClr val="23846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7" name="Google Shape;457;p21"/>
          <p:cNvSpPr txBox="1"/>
          <p:nvPr/>
        </p:nvSpPr>
        <p:spPr>
          <a:xfrm>
            <a:off x="6309360" y="2157984"/>
            <a:ext cx="256032" cy="246888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✓</a:t>
            </a:r>
            <a:endParaRPr/>
          </a:p>
        </p:txBody>
      </p:sp>
      <p:sp>
        <p:nvSpPr>
          <p:cNvPr id="458" name="Google Shape;458;p21"/>
          <p:cNvSpPr txBox="1"/>
          <p:nvPr/>
        </p:nvSpPr>
        <p:spPr>
          <a:xfrm>
            <a:off x="6720840" y="2139696"/>
            <a:ext cx="4590288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80" u="none" cap="none" strike="noStrike">
                <a:solidFill>
                  <a:srgbClr val="232B32"/>
                </a:solidFill>
                <a:latin typeface="Arial"/>
                <a:ea typeface="Arial"/>
                <a:cs typeface="Arial"/>
                <a:sym typeface="Arial"/>
              </a:rPr>
              <a:t>CHECK (Check_Out_Date &gt; Check_In_Date): Enforces valid stay periods.</a:t>
            </a:r>
            <a:endParaRPr/>
          </a:p>
        </p:txBody>
      </p:sp>
      <p:sp>
        <p:nvSpPr>
          <p:cNvPr id="459" name="Google Shape;459;p21"/>
          <p:cNvSpPr/>
          <p:nvPr/>
        </p:nvSpPr>
        <p:spPr>
          <a:xfrm>
            <a:off x="6144768" y="2679192"/>
            <a:ext cx="5440680" cy="603504"/>
          </a:xfrm>
          <a:prstGeom prst="roundRect">
            <a:avLst>
              <a:gd fmla="val 12000" name="adj"/>
            </a:avLst>
          </a:prstGeom>
          <a:solidFill>
            <a:srgbClr val="FFFFFF"/>
          </a:solidFill>
          <a:ln cap="flat" cmpd="sng" w="9525">
            <a:solidFill>
              <a:srgbClr val="E8ECE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0" name="Google Shape;460;p21"/>
          <p:cNvSpPr/>
          <p:nvPr/>
        </p:nvSpPr>
        <p:spPr>
          <a:xfrm>
            <a:off x="6309360" y="2843784"/>
            <a:ext cx="256032" cy="256032"/>
          </a:xfrm>
          <a:prstGeom prst="roundRect">
            <a:avLst>
              <a:gd fmla="val 12000" name="adj"/>
            </a:avLst>
          </a:prstGeom>
          <a:solidFill>
            <a:srgbClr val="23846A"/>
          </a:solidFill>
          <a:ln cap="flat" cmpd="sng" w="9525">
            <a:solidFill>
              <a:srgbClr val="23846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" name="Google Shape;461;p21"/>
          <p:cNvSpPr txBox="1"/>
          <p:nvPr/>
        </p:nvSpPr>
        <p:spPr>
          <a:xfrm>
            <a:off x="6309360" y="2825496"/>
            <a:ext cx="256032" cy="246888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✓</a:t>
            </a:r>
            <a:endParaRPr/>
          </a:p>
        </p:txBody>
      </p:sp>
      <p:sp>
        <p:nvSpPr>
          <p:cNvPr id="462" name="Google Shape;462;p21"/>
          <p:cNvSpPr txBox="1"/>
          <p:nvPr/>
        </p:nvSpPr>
        <p:spPr>
          <a:xfrm>
            <a:off x="6720840" y="2807208"/>
            <a:ext cx="4590288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80" u="none" cap="none" strike="noStrike">
                <a:solidFill>
                  <a:srgbClr val="232B32"/>
                </a:solidFill>
                <a:latin typeface="Arial"/>
                <a:ea typeface="Arial"/>
                <a:cs typeface="Arial"/>
                <a:sym typeface="Arial"/>
              </a:rPr>
              <a:t>CHECK (Gender IN ('Male','Female','Other')): Validates customer gender domain.</a:t>
            </a:r>
            <a:endParaRPr/>
          </a:p>
        </p:txBody>
      </p:sp>
      <p:sp>
        <p:nvSpPr>
          <p:cNvPr id="463" name="Google Shape;463;p21"/>
          <p:cNvSpPr/>
          <p:nvPr/>
        </p:nvSpPr>
        <p:spPr>
          <a:xfrm>
            <a:off x="6144768" y="3346704"/>
            <a:ext cx="5440680" cy="603504"/>
          </a:xfrm>
          <a:prstGeom prst="roundRect">
            <a:avLst>
              <a:gd fmla="val 12000" name="adj"/>
            </a:avLst>
          </a:prstGeom>
          <a:solidFill>
            <a:srgbClr val="FFFFFF"/>
          </a:solidFill>
          <a:ln cap="flat" cmpd="sng" w="9525">
            <a:solidFill>
              <a:srgbClr val="E8ECE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4" name="Google Shape;464;p21"/>
          <p:cNvSpPr/>
          <p:nvPr/>
        </p:nvSpPr>
        <p:spPr>
          <a:xfrm>
            <a:off x="6309360" y="3511296"/>
            <a:ext cx="256032" cy="256032"/>
          </a:xfrm>
          <a:prstGeom prst="roundRect">
            <a:avLst>
              <a:gd fmla="val 12000" name="adj"/>
            </a:avLst>
          </a:prstGeom>
          <a:solidFill>
            <a:srgbClr val="23846A"/>
          </a:solidFill>
          <a:ln cap="flat" cmpd="sng" w="9525">
            <a:solidFill>
              <a:srgbClr val="23846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21"/>
          <p:cNvSpPr txBox="1"/>
          <p:nvPr/>
        </p:nvSpPr>
        <p:spPr>
          <a:xfrm>
            <a:off x="6309360" y="3493008"/>
            <a:ext cx="256032" cy="246888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✓</a:t>
            </a:r>
            <a:endParaRPr/>
          </a:p>
        </p:txBody>
      </p:sp>
      <p:sp>
        <p:nvSpPr>
          <p:cNvPr id="466" name="Google Shape;466;p21"/>
          <p:cNvSpPr txBox="1"/>
          <p:nvPr/>
        </p:nvSpPr>
        <p:spPr>
          <a:xfrm>
            <a:off x="6720840" y="3474720"/>
            <a:ext cx="4590288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80" u="none" cap="none" strike="noStrike">
                <a:solidFill>
                  <a:srgbClr val="232B32"/>
                </a:solidFill>
                <a:latin typeface="Arial"/>
                <a:ea typeface="Arial"/>
                <a:cs typeface="Arial"/>
                <a:sym typeface="Arial"/>
              </a:rPr>
              <a:t>CHECK (Status IN ('Available','Occupied','Maintenance')): Room lifecycle.</a:t>
            </a:r>
            <a:endParaRPr/>
          </a:p>
        </p:txBody>
      </p:sp>
      <p:sp>
        <p:nvSpPr>
          <p:cNvPr id="467" name="Google Shape;467;p21"/>
          <p:cNvSpPr/>
          <p:nvPr/>
        </p:nvSpPr>
        <p:spPr>
          <a:xfrm>
            <a:off x="6144768" y="4014216"/>
            <a:ext cx="5440680" cy="603504"/>
          </a:xfrm>
          <a:prstGeom prst="roundRect">
            <a:avLst>
              <a:gd fmla="val 12000" name="adj"/>
            </a:avLst>
          </a:prstGeom>
          <a:solidFill>
            <a:srgbClr val="FFFFFF"/>
          </a:solidFill>
          <a:ln cap="flat" cmpd="sng" w="9525">
            <a:solidFill>
              <a:srgbClr val="E8ECE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8" name="Google Shape;468;p21"/>
          <p:cNvSpPr/>
          <p:nvPr/>
        </p:nvSpPr>
        <p:spPr>
          <a:xfrm>
            <a:off x="6309360" y="4178808"/>
            <a:ext cx="256032" cy="256032"/>
          </a:xfrm>
          <a:prstGeom prst="roundRect">
            <a:avLst>
              <a:gd fmla="val 12000" name="adj"/>
            </a:avLst>
          </a:prstGeom>
          <a:solidFill>
            <a:srgbClr val="23846A"/>
          </a:solidFill>
          <a:ln cap="flat" cmpd="sng" w="9525">
            <a:solidFill>
              <a:srgbClr val="23846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9" name="Google Shape;469;p21"/>
          <p:cNvSpPr txBox="1"/>
          <p:nvPr/>
        </p:nvSpPr>
        <p:spPr>
          <a:xfrm>
            <a:off x="6309360" y="4160520"/>
            <a:ext cx="256032" cy="246888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✓</a:t>
            </a:r>
            <a:endParaRPr/>
          </a:p>
        </p:txBody>
      </p:sp>
      <p:sp>
        <p:nvSpPr>
          <p:cNvPr id="470" name="Google Shape;470;p21"/>
          <p:cNvSpPr txBox="1"/>
          <p:nvPr/>
        </p:nvSpPr>
        <p:spPr>
          <a:xfrm>
            <a:off x="6720840" y="4142232"/>
            <a:ext cx="4590288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80" u="none" cap="none" strike="noStrike">
                <a:solidFill>
                  <a:srgbClr val="232B32"/>
                </a:solidFill>
                <a:latin typeface="Arial"/>
                <a:ea typeface="Arial"/>
                <a:cs typeface="Arial"/>
                <a:sym typeface="Arial"/>
              </a:rPr>
              <a:t>CHECK (Payment_Method IN ('Cash','Card','UPI','Net Banking')): Verified modes.</a:t>
            </a:r>
            <a:endParaRPr/>
          </a:p>
        </p:txBody>
      </p:sp>
      <p:sp>
        <p:nvSpPr>
          <p:cNvPr id="471" name="Google Shape;471;p21"/>
          <p:cNvSpPr/>
          <p:nvPr/>
        </p:nvSpPr>
        <p:spPr>
          <a:xfrm>
            <a:off x="6144768" y="4681728"/>
            <a:ext cx="5440680" cy="603504"/>
          </a:xfrm>
          <a:prstGeom prst="roundRect">
            <a:avLst>
              <a:gd fmla="val 12000" name="adj"/>
            </a:avLst>
          </a:prstGeom>
          <a:solidFill>
            <a:srgbClr val="FFFFFF"/>
          </a:solidFill>
          <a:ln cap="flat" cmpd="sng" w="9525">
            <a:solidFill>
              <a:srgbClr val="E8ECE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2" name="Google Shape;472;p21"/>
          <p:cNvSpPr/>
          <p:nvPr/>
        </p:nvSpPr>
        <p:spPr>
          <a:xfrm>
            <a:off x="6309360" y="4846320"/>
            <a:ext cx="256032" cy="256032"/>
          </a:xfrm>
          <a:prstGeom prst="roundRect">
            <a:avLst>
              <a:gd fmla="val 12000" name="adj"/>
            </a:avLst>
          </a:prstGeom>
          <a:solidFill>
            <a:srgbClr val="23846A"/>
          </a:solidFill>
          <a:ln cap="flat" cmpd="sng" w="9525">
            <a:solidFill>
              <a:srgbClr val="23846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3" name="Google Shape;473;p21"/>
          <p:cNvSpPr txBox="1"/>
          <p:nvPr/>
        </p:nvSpPr>
        <p:spPr>
          <a:xfrm>
            <a:off x="6309360" y="4828032"/>
            <a:ext cx="256032" cy="246888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✓</a:t>
            </a:r>
            <a:endParaRPr/>
          </a:p>
        </p:txBody>
      </p:sp>
      <p:sp>
        <p:nvSpPr>
          <p:cNvPr id="474" name="Google Shape;474;p21"/>
          <p:cNvSpPr txBox="1"/>
          <p:nvPr/>
        </p:nvSpPr>
        <p:spPr>
          <a:xfrm>
            <a:off x="6720840" y="4809744"/>
            <a:ext cx="4590288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80" u="none" cap="none" strike="noStrike">
                <a:solidFill>
                  <a:srgbClr val="232B32"/>
                </a:solidFill>
                <a:latin typeface="Arial"/>
                <a:ea typeface="Arial"/>
                <a:cs typeface="Arial"/>
                <a:sym typeface="Arial"/>
              </a:rPr>
              <a:t>UNIQUE: Enforced on Email, Phone_No, ID_Proof_Number, Transaction_Ref.</a:t>
            </a:r>
            <a:endParaRPr/>
          </a:p>
        </p:txBody>
      </p:sp>
      <p:sp>
        <p:nvSpPr>
          <p:cNvPr id="475" name="Google Shape;475;p21"/>
          <p:cNvSpPr/>
          <p:nvPr/>
        </p:nvSpPr>
        <p:spPr>
          <a:xfrm>
            <a:off x="6144768" y="5349240"/>
            <a:ext cx="5440680" cy="603504"/>
          </a:xfrm>
          <a:prstGeom prst="roundRect">
            <a:avLst>
              <a:gd fmla="val 12000" name="adj"/>
            </a:avLst>
          </a:prstGeom>
          <a:solidFill>
            <a:srgbClr val="FFFFFF"/>
          </a:solidFill>
          <a:ln cap="flat" cmpd="sng" w="9525">
            <a:solidFill>
              <a:srgbClr val="E8ECE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6" name="Google Shape;476;p21"/>
          <p:cNvSpPr/>
          <p:nvPr/>
        </p:nvSpPr>
        <p:spPr>
          <a:xfrm>
            <a:off x="6309360" y="5513832"/>
            <a:ext cx="256032" cy="256032"/>
          </a:xfrm>
          <a:prstGeom prst="roundRect">
            <a:avLst>
              <a:gd fmla="val 12000" name="adj"/>
            </a:avLst>
          </a:prstGeom>
          <a:solidFill>
            <a:srgbClr val="23846A"/>
          </a:solidFill>
          <a:ln cap="flat" cmpd="sng" w="9525">
            <a:solidFill>
              <a:srgbClr val="23846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7" name="Google Shape;477;p21"/>
          <p:cNvSpPr txBox="1"/>
          <p:nvPr/>
        </p:nvSpPr>
        <p:spPr>
          <a:xfrm>
            <a:off x="6309360" y="5495544"/>
            <a:ext cx="256032" cy="246888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✓</a:t>
            </a:r>
            <a:endParaRPr/>
          </a:p>
        </p:txBody>
      </p:sp>
      <p:sp>
        <p:nvSpPr>
          <p:cNvPr id="478" name="Google Shape;478;p21"/>
          <p:cNvSpPr txBox="1"/>
          <p:nvPr/>
        </p:nvSpPr>
        <p:spPr>
          <a:xfrm>
            <a:off x="6720840" y="5477256"/>
            <a:ext cx="4590288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80" u="none" cap="none" strike="noStrike">
                <a:solidFill>
                  <a:srgbClr val="232B32"/>
                </a:solidFill>
                <a:latin typeface="Arial"/>
                <a:ea typeface="Arial"/>
                <a:cs typeface="Arial"/>
                <a:sym typeface="Arial"/>
              </a:rPr>
              <a:t>NOT NULL: Mandatory names, room numbers, booking dates, and amounts.</a:t>
            </a:r>
            <a:endParaRPr/>
          </a:p>
        </p:txBody>
      </p:sp>
      <p:sp>
        <p:nvSpPr>
          <p:cNvPr id="479" name="Google Shape;479;p21"/>
          <p:cNvSpPr txBox="1"/>
          <p:nvPr/>
        </p:nvSpPr>
        <p:spPr>
          <a:xfrm>
            <a:off x="594360" y="6510528"/>
            <a:ext cx="43891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5B676F"/>
                </a:solidFill>
                <a:latin typeface="Arial"/>
                <a:ea typeface="Arial"/>
                <a:cs typeface="Arial"/>
                <a:sym typeface="Arial"/>
              </a:rPr>
              <a:t>TEAM 15  •  HOTEL MANAGEMENT SYSTEM</a:t>
            </a:r>
            <a:endParaRPr/>
          </a:p>
        </p:txBody>
      </p:sp>
      <p:sp>
        <p:nvSpPr>
          <p:cNvPr id="480" name="Google Shape;480;p21"/>
          <p:cNvSpPr txBox="1"/>
          <p:nvPr/>
        </p:nvSpPr>
        <p:spPr>
          <a:xfrm>
            <a:off x="10835640" y="6492240"/>
            <a:ext cx="749808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5B676F"/>
                </a:solidFill>
                <a:latin typeface="Arial"/>
                <a:ea typeface="Arial"/>
                <a:cs typeface="Arial"/>
                <a:sym typeface="Arial"/>
              </a:rPr>
              <a:t>08 / 13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6F1"/>
        </a:solidFill>
      </p:bgPr>
    </p:bg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p2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3846A"/>
          </a:solidFill>
          <a:ln cap="flat" cmpd="sng" w="9525">
            <a:solidFill>
              <a:srgbClr val="23846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6" name="Google Shape;486;p22"/>
          <p:cNvSpPr/>
          <p:nvPr/>
        </p:nvSpPr>
        <p:spPr>
          <a:xfrm>
            <a:off x="11475720" y="0"/>
            <a:ext cx="713232" cy="73152"/>
          </a:xfrm>
          <a:prstGeom prst="rect">
            <a:avLst/>
          </a:prstGeom>
          <a:solidFill>
            <a:srgbClr val="CD9D48"/>
          </a:solidFill>
          <a:ln cap="flat" cmpd="sng" w="9525">
            <a:solidFill>
              <a:srgbClr val="CD9D4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7" name="Google Shape;487;p22"/>
          <p:cNvSpPr txBox="1"/>
          <p:nvPr/>
        </p:nvSpPr>
        <p:spPr>
          <a:xfrm>
            <a:off x="594360" y="475488"/>
            <a:ext cx="89611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141F2B"/>
                </a:solidFill>
                <a:latin typeface="Arial"/>
                <a:ea typeface="Arial"/>
                <a:cs typeface="Arial"/>
                <a:sym typeface="Arial"/>
              </a:rPr>
              <a:t>MySQL Implementation &amp; CRUD</a:t>
            </a:r>
            <a:endParaRPr/>
          </a:p>
        </p:txBody>
      </p:sp>
      <p:sp>
        <p:nvSpPr>
          <p:cNvPr id="488" name="Google Shape;488;p22"/>
          <p:cNvSpPr txBox="1"/>
          <p:nvPr/>
        </p:nvSpPr>
        <p:spPr>
          <a:xfrm>
            <a:off x="612648" y="1005840"/>
            <a:ext cx="104241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69747A"/>
                </a:solidFill>
                <a:latin typeface="Arial"/>
                <a:ea typeface="Arial"/>
                <a:cs typeface="Arial"/>
                <a:sym typeface="Arial"/>
              </a:rPr>
              <a:t>Hotel Management System  •  MySQL Schema &amp; CRUD</a:t>
            </a:r>
            <a:endParaRPr/>
          </a:p>
        </p:txBody>
      </p:sp>
      <p:sp>
        <p:nvSpPr>
          <p:cNvPr id="489" name="Google Shape;489;p22"/>
          <p:cNvSpPr txBox="1"/>
          <p:nvPr/>
        </p:nvSpPr>
        <p:spPr>
          <a:xfrm>
            <a:off x="640080" y="1572768"/>
            <a:ext cx="3657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166752"/>
                </a:solidFill>
                <a:latin typeface="Arial"/>
                <a:ea typeface="Arial"/>
                <a:cs typeface="Arial"/>
                <a:sym typeface="Arial"/>
              </a:rPr>
              <a:t>DDL SCHEMA DEFINITION</a:t>
            </a:r>
            <a:endParaRPr/>
          </a:p>
        </p:txBody>
      </p:sp>
      <p:sp>
        <p:nvSpPr>
          <p:cNvPr id="490" name="Google Shape;490;p22"/>
          <p:cNvSpPr/>
          <p:nvPr/>
        </p:nvSpPr>
        <p:spPr>
          <a:xfrm>
            <a:off x="640080" y="1901952"/>
            <a:ext cx="6492240" cy="4069080"/>
          </a:xfrm>
          <a:prstGeom prst="roundRect">
            <a:avLst>
              <a:gd fmla="val 12000" name="adj"/>
            </a:avLst>
          </a:prstGeom>
          <a:solidFill>
            <a:srgbClr val="232B32"/>
          </a:solidFill>
          <a:ln cap="flat" cmpd="sng" w="9525">
            <a:solidFill>
              <a:srgbClr val="414C5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1" name="Google Shape;491;p22"/>
          <p:cNvSpPr txBox="1"/>
          <p:nvPr/>
        </p:nvSpPr>
        <p:spPr>
          <a:xfrm>
            <a:off x="822959" y="2020824"/>
            <a:ext cx="6126479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CD9D48"/>
                </a:solidFill>
                <a:latin typeface="Arial"/>
                <a:ea typeface="Arial"/>
                <a:cs typeface="Arial"/>
                <a:sym typeface="Arial"/>
              </a:rPr>
              <a:t>DATABASE + BOOKINGS TABLE</a:t>
            </a:r>
            <a:endParaRPr/>
          </a:p>
        </p:txBody>
      </p:sp>
      <p:sp>
        <p:nvSpPr>
          <p:cNvPr id="492" name="Google Shape;492;p22"/>
          <p:cNvSpPr txBox="1"/>
          <p:nvPr/>
        </p:nvSpPr>
        <p:spPr>
          <a:xfrm>
            <a:off x="822959" y="2313432"/>
            <a:ext cx="6126479" cy="352044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60" u="none" cap="none" strike="noStrike">
                <a:solidFill>
                  <a:srgbClr val="DFE7E5"/>
                </a:solidFill>
                <a:latin typeface="Arial"/>
                <a:ea typeface="Arial"/>
                <a:cs typeface="Arial"/>
                <a:sym typeface="Arial"/>
              </a:rPr>
              <a:t>CREATE DATABASE hotel_management;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760" u="none" cap="none" strike="noStrike">
                <a:solidFill>
                  <a:srgbClr val="DFE7E5"/>
                </a:solidFill>
                <a:latin typeface="Arial"/>
                <a:ea typeface="Arial"/>
                <a:cs typeface="Arial"/>
                <a:sym typeface="Arial"/>
              </a:rPr>
              <a:t>USE hotel_management;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760" u="none" cap="none" strike="noStrike">
                <a:solidFill>
                  <a:srgbClr val="DFE7E5"/>
                </a:solidFill>
                <a:latin typeface="Arial"/>
                <a:ea typeface="Arial"/>
                <a:cs typeface="Arial"/>
                <a:sym typeface="Arial"/>
              </a:rPr>
              <a:t>CREATE TABLE bookings (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760" u="none" cap="none" strike="noStrike">
                <a:solidFill>
                  <a:srgbClr val="DFE7E5"/>
                </a:solidFill>
                <a:latin typeface="Arial"/>
                <a:ea typeface="Arial"/>
                <a:cs typeface="Arial"/>
                <a:sym typeface="Arial"/>
              </a:rPr>
              <a:t>  Booking_ID INT PRIMARY KEY AUTO_INCREMENT,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760" u="none" cap="none" strike="noStrike">
                <a:solidFill>
                  <a:srgbClr val="DFE7E5"/>
                </a:solidFill>
                <a:latin typeface="Arial"/>
                <a:ea typeface="Arial"/>
                <a:cs typeface="Arial"/>
                <a:sym typeface="Arial"/>
              </a:rPr>
              <a:t>  Customer_ID INT NOT NULL,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760" u="none" cap="none" strike="noStrike">
                <a:solidFill>
                  <a:srgbClr val="DFE7E5"/>
                </a:solidFill>
                <a:latin typeface="Arial"/>
                <a:ea typeface="Arial"/>
                <a:cs typeface="Arial"/>
                <a:sym typeface="Arial"/>
              </a:rPr>
              <a:t>  Room_ID INT NOT NULL,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760" u="none" cap="none" strike="noStrike">
                <a:solidFill>
                  <a:srgbClr val="DFE7E5"/>
                </a:solidFill>
                <a:latin typeface="Arial"/>
                <a:ea typeface="Arial"/>
                <a:cs typeface="Arial"/>
                <a:sym typeface="Arial"/>
              </a:rPr>
              <a:t>  Check_In_Date DATE NOT NULL,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760" u="none" cap="none" strike="noStrike">
                <a:solidFill>
                  <a:srgbClr val="DFE7E5"/>
                </a:solidFill>
                <a:latin typeface="Arial"/>
                <a:ea typeface="Arial"/>
                <a:cs typeface="Arial"/>
                <a:sym typeface="Arial"/>
              </a:rPr>
              <a:t>  Check_Out_Date DATE NOT NULL,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760" u="none" cap="none" strike="noStrike">
                <a:solidFill>
                  <a:srgbClr val="DFE7E5"/>
                </a:solidFill>
                <a:latin typeface="Arial"/>
                <a:ea typeface="Arial"/>
                <a:cs typeface="Arial"/>
                <a:sym typeface="Arial"/>
              </a:rPr>
              <a:t>  Booking_Date DATE NOT NULL DEFAULT CURRENT_DATE,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760" u="none" cap="none" strike="noStrike">
                <a:solidFill>
                  <a:srgbClr val="DFE7E5"/>
                </a:solidFill>
                <a:latin typeface="Arial"/>
                <a:ea typeface="Arial"/>
                <a:cs typeface="Arial"/>
                <a:sym typeface="Arial"/>
              </a:rPr>
              <a:t>  Guest_Count INT NOT NULL,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760" u="none" cap="none" strike="noStrike">
                <a:solidFill>
                  <a:srgbClr val="DFE7E5"/>
                </a:solidFill>
                <a:latin typeface="Arial"/>
                <a:ea typeface="Arial"/>
                <a:cs typeface="Arial"/>
                <a:sym typeface="Arial"/>
              </a:rPr>
              <a:t>  Total_Amount DECIMAL(10,2),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760" u="none" cap="none" strike="noStrike">
                <a:solidFill>
                  <a:srgbClr val="DFE7E5"/>
                </a:solidFill>
                <a:latin typeface="Arial"/>
                <a:ea typeface="Arial"/>
                <a:cs typeface="Arial"/>
                <a:sym typeface="Arial"/>
              </a:rPr>
              <a:t>  Status VARCHAR(20) DEFAULT 'Confirmed',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760" u="none" cap="none" strike="noStrike">
                <a:solidFill>
                  <a:srgbClr val="DFE7E5"/>
                </a:solidFill>
                <a:latin typeface="Arial"/>
                <a:ea typeface="Arial"/>
                <a:cs typeface="Arial"/>
                <a:sym typeface="Arial"/>
              </a:rPr>
              <a:t>  FOREIGN KEY (Customer_ID) REFERENCES customers(Customer_ID),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760" u="none" cap="none" strike="noStrike">
                <a:solidFill>
                  <a:srgbClr val="DFE7E5"/>
                </a:solidFill>
                <a:latin typeface="Arial"/>
                <a:ea typeface="Arial"/>
                <a:cs typeface="Arial"/>
                <a:sym typeface="Arial"/>
              </a:rPr>
              <a:t>  FOREIGN KEY (Room_ID) REFERENCES rooms(Room_ID)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760" u="none" cap="none" strike="noStrike">
                <a:solidFill>
                  <a:srgbClr val="DFE7E5"/>
                </a:solidFill>
                <a:latin typeface="Arial"/>
                <a:ea typeface="Arial"/>
                <a:cs typeface="Arial"/>
                <a:sym typeface="Arial"/>
              </a:rPr>
              <a:t>);</a:t>
            </a:r>
            <a:endParaRPr/>
          </a:p>
        </p:txBody>
      </p:sp>
      <p:sp>
        <p:nvSpPr>
          <p:cNvPr id="493" name="Google Shape;493;p22"/>
          <p:cNvSpPr txBox="1"/>
          <p:nvPr/>
        </p:nvSpPr>
        <p:spPr>
          <a:xfrm>
            <a:off x="7424927" y="1572768"/>
            <a:ext cx="3200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166752"/>
                </a:solidFill>
                <a:latin typeface="Arial"/>
                <a:ea typeface="Arial"/>
                <a:cs typeface="Arial"/>
                <a:sym typeface="Arial"/>
              </a:rPr>
              <a:t>CRUD OPERATIONS</a:t>
            </a:r>
            <a:endParaRPr/>
          </a:p>
        </p:txBody>
      </p:sp>
      <p:sp>
        <p:nvSpPr>
          <p:cNvPr id="494" name="Google Shape;494;p22"/>
          <p:cNvSpPr/>
          <p:nvPr/>
        </p:nvSpPr>
        <p:spPr>
          <a:xfrm>
            <a:off x="7424927" y="1920240"/>
            <a:ext cx="4160520" cy="914400"/>
          </a:xfrm>
          <a:prstGeom prst="roundRect">
            <a:avLst>
              <a:gd fmla="val 12000" name="adj"/>
            </a:avLst>
          </a:prstGeom>
          <a:solidFill>
            <a:srgbClr val="FFFFFF"/>
          </a:solidFill>
          <a:ln cap="flat" cmpd="sng" w="9525">
            <a:solidFill>
              <a:srgbClr val="E8ECE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5" name="Google Shape;495;p22"/>
          <p:cNvSpPr/>
          <p:nvPr/>
        </p:nvSpPr>
        <p:spPr>
          <a:xfrm>
            <a:off x="7424927" y="1920240"/>
            <a:ext cx="64008" cy="914400"/>
          </a:xfrm>
          <a:prstGeom prst="rect">
            <a:avLst/>
          </a:prstGeom>
          <a:solidFill>
            <a:srgbClr val="23846A"/>
          </a:solidFill>
          <a:ln cap="flat" cmpd="sng" w="9525">
            <a:solidFill>
              <a:srgbClr val="23846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6" name="Google Shape;496;p22"/>
          <p:cNvSpPr txBox="1"/>
          <p:nvPr/>
        </p:nvSpPr>
        <p:spPr>
          <a:xfrm>
            <a:off x="7680959" y="2103120"/>
            <a:ext cx="37033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41F2B"/>
                </a:solidFill>
                <a:latin typeface="Arial"/>
                <a:ea typeface="Arial"/>
                <a:cs typeface="Arial"/>
                <a:sym typeface="Arial"/>
              </a:rPr>
              <a:t>CREATE (INSERT)</a:t>
            </a:r>
            <a:endParaRPr/>
          </a:p>
        </p:txBody>
      </p:sp>
      <p:sp>
        <p:nvSpPr>
          <p:cNvPr id="497" name="Google Shape;497;p22"/>
          <p:cNvSpPr txBox="1"/>
          <p:nvPr/>
        </p:nvSpPr>
        <p:spPr>
          <a:xfrm>
            <a:off x="7680959" y="2505456"/>
            <a:ext cx="3675888" cy="201167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5B676F"/>
                </a:solidFill>
                <a:latin typeface="Arial"/>
                <a:ea typeface="Arial"/>
                <a:cs typeface="Arial"/>
                <a:sym typeface="Arial"/>
              </a:rPr>
              <a:t>Inserts guests (customers), rooms, bookings, and multi-gateway payments (payments).</a:t>
            </a:r>
            <a:endParaRPr/>
          </a:p>
        </p:txBody>
      </p:sp>
      <p:sp>
        <p:nvSpPr>
          <p:cNvPr id="498" name="Google Shape;498;p22"/>
          <p:cNvSpPr/>
          <p:nvPr/>
        </p:nvSpPr>
        <p:spPr>
          <a:xfrm>
            <a:off x="7424927" y="2944368"/>
            <a:ext cx="4160520" cy="914400"/>
          </a:xfrm>
          <a:prstGeom prst="roundRect">
            <a:avLst>
              <a:gd fmla="val 12000" name="adj"/>
            </a:avLst>
          </a:prstGeom>
          <a:solidFill>
            <a:srgbClr val="FFFFFF"/>
          </a:solidFill>
          <a:ln cap="flat" cmpd="sng" w="9525">
            <a:solidFill>
              <a:srgbClr val="E8ECE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9" name="Google Shape;499;p22"/>
          <p:cNvSpPr/>
          <p:nvPr/>
        </p:nvSpPr>
        <p:spPr>
          <a:xfrm>
            <a:off x="7424927" y="2944368"/>
            <a:ext cx="64008" cy="914400"/>
          </a:xfrm>
          <a:prstGeom prst="rect">
            <a:avLst/>
          </a:prstGeom>
          <a:solidFill>
            <a:srgbClr val="406AA6"/>
          </a:solidFill>
          <a:ln cap="flat" cmpd="sng" w="9525">
            <a:solidFill>
              <a:srgbClr val="406AA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0" name="Google Shape;500;p22"/>
          <p:cNvSpPr txBox="1"/>
          <p:nvPr/>
        </p:nvSpPr>
        <p:spPr>
          <a:xfrm>
            <a:off x="7680959" y="3127248"/>
            <a:ext cx="37033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41F2B"/>
                </a:solidFill>
                <a:latin typeface="Arial"/>
                <a:ea typeface="Arial"/>
                <a:cs typeface="Arial"/>
                <a:sym typeface="Arial"/>
              </a:rPr>
              <a:t>READ (SELECT)</a:t>
            </a:r>
            <a:endParaRPr/>
          </a:p>
        </p:txBody>
      </p:sp>
      <p:sp>
        <p:nvSpPr>
          <p:cNvPr id="501" name="Google Shape;501;p22"/>
          <p:cNvSpPr txBox="1"/>
          <p:nvPr/>
        </p:nvSpPr>
        <p:spPr>
          <a:xfrm>
            <a:off x="7680959" y="3529584"/>
            <a:ext cx="3675888" cy="201167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5B676F"/>
                </a:solidFill>
                <a:latin typeface="Arial"/>
                <a:ea typeface="Arial"/>
                <a:cs typeface="Arial"/>
                <a:sym typeface="Arial"/>
              </a:rPr>
              <a:t>Retrieves available rooms, filters by city/price, and queries active reservations via WHERE.</a:t>
            </a:r>
            <a:endParaRPr/>
          </a:p>
        </p:txBody>
      </p:sp>
      <p:sp>
        <p:nvSpPr>
          <p:cNvPr id="502" name="Google Shape;502;p22"/>
          <p:cNvSpPr/>
          <p:nvPr/>
        </p:nvSpPr>
        <p:spPr>
          <a:xfrm>
            <a:off x="7424927" y="3968496"/>
            <a:ext cx="4160520" cy="914400"/>
          </a:xfrm>
          <a:prstGeom prst="roundRect">
            <a:avLst>
              <a:gd fmla="val 12000" name="adj"/>
            </a:avLst>
          </a:prstGeom>
          <a:solidFill>
            <a:srgbClr val="FFFFFF"/>
          </a:solidFill>
          <a:ln cap="flat" cmpd="sng" w="9525">
            <a:solidFill>
              <a:srgbClr val="E8ECE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3" name="Google Shape;503;p22"/>
          <p:cNvSpPr/>
          <p:nvPr/>
        </p:nvSpPr>
        <p:spPr>
          <a:xfrm>
            <a:off x="7424927" y="3968496"/>
            <a:ext cx="64008" cy="914400"/>
          </a:xfrm>
          <a:prstGeom prst="rect">
            <a:avLst/>
          </a:prstGeom>
          <a:solidFill>
            <a:srgbClr val="CD9D48"/>
          </a:solidFill>
          <a:ln cap="flat" cmpd="sng" w="9525">
            <a:solidFill>
              <a:srgbClr val="CD9D4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4" name="Google Shape;504;p22"/>
          <p:cNvSpPr txBox="1"/>
          <p:nvPr/>
        </p:nvSpPr>
        <p:spPr>
          <a:xfrm>
            <a:off x="7680959" y="4151376"/>
            <a:ext cx="37033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41F2B"/>
                </a:solidFill>
                <a:latin typeface="Arial"/>
                <a:ea typeface="Arial"/>
                <a:cs typeface="Arial"/>
                <a:sym typeface="Arial"/>
              </a:rPr>
              <a:t>UPDATE</a:t>
            </a:r>
            <a:endParaRPr/>
          </a:p>
        </p:txBody>
      </p:sp>
      <p:sp>
        <p:nvSpPr>
          <p:cNvPr id="505" name="Google Shape;505;p22"/>
          <p:cNvSpPr txBox="1"/>
          <p:nvPr/>
        </p:nvSpPr>
        <p:spPr>
          <a:xfrm>
            <a:off x="7680959" y="4553712"/>
            <a:ext cx="3675888" cy="201167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5B676F"/>
                </a:solidFill>
                <a:latin typeface="Arial"/>
                <a:ea typeface="Arial"/>
                <a:cs typeface="Arial"/>
                <a:sym typeface="Arial"/>
              </a:rPr>
              <a:t>Modifies room prices (e.g. Price_Per_Night = 2200) and status upon guest check-in.</a:t>
            </a:r>
            <a:endParaRPr/>
          </a:p>
        </p:txBody>
      </p:sp>
      <p:sp>
        <p:nvSpPr>
          <p:cNvPr id="506" name="Google Shape;506;p22"/>
          <p:cNvSpPr/>
          <p:nvPr/>
        </p:nvSpPr>
        <p:spPr>
          <a:xfrm>
            <a:off x="7424927" y="4992624"/>
            <a:ext cx="4160520" cy="914400"/>
          </a:xfrm>
          <a:prstGeom prst="roundRect">
            <a:avLst>
              <a:gd fmla="val 12000" name="adj"/>
            </a:avLst>
          </a:prstGeom>
          <a:solidFill>
            <a:srgbClr val="FFFFFF"/>
          </a:solidFill>
          <a:ln cap="flat" cmpd="sng" w="9525">
            <a:solidFill>
              <a:srgbClr val="E8ECE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7" name="Google Shape;507;p22"/>
          <p:cNvSpPr/>
          <p:nvPr/>
        </p:nvSpPr>
        <p:spPr>
          <a:xfrm>
            <a:off x="7424927" y="4992624"/>
            <a:ext cx="64008" cy="914400"/>
          </a:xfrm>
          <a:prstGeom prst="rect">
            <a:avLst/>
          </a:prstGeom>
          <a:solidFill>
            <a:srgbClr val="BC4B43"/>
          </a:solidFill>
          <a:ln cap="flat" cmpd="sng" w="9525">
            <a:solidFill>
              <a:srgbClr val="BC4B43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8" name="Google Shape;508;p22"/>
          <p:cNvSpPr txBox="1"/>
          <p:nvPr/>
        </p:nvSpPr>
        <p:spPr>
          <a:xfrm>
            <a:off x="7680959" y="5175504"/>
            <a:ext cx="37033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41F2B"/>
                </a:solidFill>
                <a:latin typeface="Arial"/>
                <a:ea typeface="Arial"/>
                <a:cs typeface="Arial"/>
                <a:sym typeface="Arial"/>
              </a:rPr>
              <a:t>DELETE (Safe Handling)</a:t>
            </a:r>
            <a:endParaRPr/>
          </a:p>
        </p:txBody>
      </p:sp>
      <p:sp>
        <p:nvSpPr>
          <p:cNvPr id="509" name="Google Shape;509;p22"/>
          <p:cNvSpPr txBox="1"/>
          <p:nvPr/>
        </p:nvSpPr>
        <p:spPr>
          <a:xfrm>
            <a:off x="7680959" y="5577840"/>
            <a:ext cx="3675888" cy="201167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5B676F"/>
                </a:solidFill>
                <a:latin typeface="Arial"/>
                <a:ea typeface="Arial"/>
                <a:cs typeface="Arial"/>
                <a:sym typeface="Arial"/>
              </a:rPr>
              <a:t>Guarded by RESTRICT to protect audit histories of customers with existing bookings.</a:t>
            </a:r>
            <a:endParaRPr/>
          </a:p>
        </p:txBody>
      </p:sp>
      <p:sp>
        <p:nvSpPr>
          <p:cNvPr id="510" name="Google Shape;510;p22"/>
          <p:cNvSpPr txBox="1"/>
          <p:nvPr/>
        </p:nvSpPr>
        <p:spPr>
          <a:xfrm>
            <a:off x="594360" y="6510528"/>
            <a:ext cx="43891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5B676F"/>
                </a:solidFill>
                <a:latin typeface="Arial"/>
                <a:ea typeface="Arial"/>
                <a:cs typeface="Arial"/>
                <a:sym typeface="Arial"/>
              </a:rPr>
              <a:t>TEAM 15  •  HOTEL MANAGEMENT SYSTEM</a:t>
            </a:r>
            <a:endParaRPr/>
          </a:p>
        </p:txBody>
      </p:sp>
      <p:sp>
        <p:nvSpPr>
          <p:cNvPr id="511" name="Google Shape;511;p22"/>
          <p:cNvSpPr txBox="1"/>
          <p:nvPr/>
        </p:nvSpPr>
        <p:spPr>
          <a:xfrm>
            <a:off x="10835640" y="6492240"/>
            <a:ext cx="749808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5B676F"/>
                </a:solidFill>
                <a:latin typeface="Arial"/>
                <a:ea typeface="Arial"/>
                <a:cs typeface="Arial"/>
                <a:sym typeface="Arial"/>
              </a:rPr>
              <a:t>09 / 13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6F1"/>
        </a:solidFill>
      </p:bgPr>
    </p:bg>
    <p:spTree>
      <p:nvGrpSpPr>
        <p:cNvPr id="515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p23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3846A"/>
          </a:solidFill>
          <a:ln cap="flat" cmpd="sng" w="9525">
            <a:solidFill>
              <a:srgbClr val="23846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7" name="Google Shape;517;p23"/>
          <p:cNvSpPr/>
          <p:nvPr/>
        </p:nvSpPr>
        <p:spPr>
          <a:xfrm>
            <a:off x="11475720" y="0"/>
            <a:ext cx="713232" cy="73152"/>
          </a:xfrm>
          <a:prstGeom prst="rect">
            <a:avLst/>
          </a:prstGeom>
          <a:solidFill>
            <a:srgbClr val="CD9D48"/>
          </a:solidFill>
          <a:ln cap="flat" cmpd="sng" w="9525">
            <a:solidFill>
              <a:srgbClr val="CD9D4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8" name="Google Shape;518;p23"/>
          <p:cNvSpPr txBox="1"/>
          <p:nvPr/>
        </p:nvSpPr>
        <p:spPr>
          <a:xfrm>
            <a:off x="594360" y="475488"/>
            <a:ext cx="89611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141F2B"/>
                </a:solidFill>
                <a:latin typeface="Arial"/>
                <a:ea typeface="Arial"/>
                <a:cs typeface="Arial"/>
                <a:sym typeface="Arial"/>
              </a:rPr>
              <a:t>SQL Queries &amp; Complex Joins</a:t>
            </a:r>
            <a:endParaRPr/>
          </a:p>
        </p:txBody>
      </p:sp>
      <p:sp>
        <p:nvSpPr>
          <p:cNvPr id="519" name="Google Shape;519;p23"/>
          <p:cNvSpPr txBox="1"/>
          <p:nvPr/>
        </p:nvSpPr>
        <p:spPr>
          <a:xfrm>
            <a:off x="612648" y="1005840"/>
            <a:ext cx="104241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69747A"/>
                </a:solidFill>
                <a:latin typeface="Arial"/>
                <a:ea typeface="Arial"/>
                <a:cs typeface="Arial"/>
                <a:sym typeface="Arial"/>
              </a:rPr>
              <a:t>Hotel Management System  •  Joins &amp; Subqueries</a:t>
            </a:r>
            <a:endParaRPr/>
          </a:p>
        </p:txBody>
      </p:sp>
      <p:sp>
        <p:nvSpPr>
          <p:cNvPr id="520" name="Google Shape;520;p23"/>
          <p:cNvSpPr/>
          <p:nvPr/>
        </p:nvSpPr>
        <p:spPr>
          <a:xfrm>
            <a:off x="640080" y="1664208"/>
            <a:ext cx="5623560" cy="4407408"/>
          </a:xfrm>
          <a:prstGeom prst="roundRect">
            <a:avLst>
              <a:gd fmla="val 12000" name="adj"/>
            </a:avLst>
          </a:prstGeom>
          <a:solidFill>
            <a:srgbClr val="232B32"/>
          </a:solidFill>
          <a:ln cap="flat" cmpd="sng" w="9525">
            <a:solidFill>
              <a:srgbClr val="414C5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1" name="Google Shape;521;p23"/>
          <p:cNvSpPr txBox="1"/>
          <p:nvPr/>
        </p:nvSpPr>
        <p:spPr>
          <a:xfrm>
            <a:off x="822959" y="1783080"/>
            <a:ext cx="5257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CD9D48"/>
                </a:solidFill>
                <a:latin typeface="Arial"/>
                <a:ea typeface="Arial"/>
                <a:cs typeface="Arial"/>
                <a:sym typeface="Arial"/>
              </a:rPr>
              <a:t>MASTER REPORT QUERY</a:t>
            </a:r>
            <a:endParaRPr/>
          </a:p>
        </p:txBody>
      </p:sp>
      <p:sp>
        <p:nvSpPr>
          <p:cNvPr id="522" name="Google Shape;522;p23"/>
          <p:cNvSpPr txBox="1"/>
          <p:nvPr/>
        </p:nvSpPr>
        <p:spPr>
          <a:xfrm>
            <a:off x="822959" y="2075688"/>
            <a:ext cx="5257800" cy="3858768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40" u="none" cap="none" strike="noStrike">
                <a:solidFill>
                  <a:srgbClr val="DFE7E5"/>
                </a:solidFill>
                <a:latin typeface="Arial"/>
                <a:ea typeface="Arial"/>
                <a:cs typeface="Arial"/>
                <a:sym typeface="Arial"/>
              </a:rPr>
              <a:t>-- Comprehensive Booking &amp; Room Type Master Report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740" u="none" cap="none" strike="noStrike">
                <a:solidFill>
                  <a:srgbClr val="DFE7E5"/>
                </a:solidFill>
                <a:latin typeface="Arial"/>
                <a:ea typeface="Arial"/>
                <a:cs typeface="Arial"/>
                <a:sym typeface="Arial"/>
              </a:rPr>
              <a:t>SELECT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740" u="none" cap="none" strike="noStrike">
                <a:solidFill>
                  <a:srgbClr val="DFE7E5"/>
                </a:solidFill>
                <a:latin typeface="Arial"/>
                <a:ea typeface="Arial"/>
                <a:cs typeface="Arial"/>
                <a:sym typeface="Arial"/>
              </a:rPr>
              <a:t>  CONCAT(c.First_Name, ' ', c.Last_Name) AS Customer_Name,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740" u="none" cap="none" strike="noStrike">
                <a:solidFill>
                  <a:srgbClr val="DFE7E5"/>
                </a:solidFill>
                <a:latin typeface="Arial"/>
                <a:ea typeface="Arial"/>
                <a:cs typeface="Arial"/>
                <a:sym typeface="Arial"/>
              </a:rPr>
              <a:t>  b.Booking_ID, r.Room_Number, rt.Type_Name,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740" u="none" cap="none" strike="noStrike">
                <a:solidFill>
                  <a:srgbClr val="DFE7E5"/>
                </a:solidFill>
                <a:latin typeface="Arial"/>
                <a:ea typeface="Arial"/>
                <a:cs typeface="Arial"/>
                <a:sym typeface="Arial"/>
              </a:rPr>
              <a:t>  b.Check_In_Date, b.Check_Out_Date, b.Total_Amount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740" u="none" cap="none" strike="noStrike">
                <a:solidFill>
                  <a:srgbClr val="DFE7E5"/>
                </a:solidFill>
                <a:latin typeface="Arial"/>
                <a:ea typeface="Arial"/>
                <a:cs typeface="Arial"/>
                <a:sym typeface="Arial"/>
              </a:rPr>
              <a:t>FROM bookings b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740" u="none" cap="none" strike="noStrike">
                <a:solidFill>
                  <a:srgbClr val="DFE7E5"/>
                </a:solidFill>
                <a:latin typeface="Arial"/>
                <a:ea typeface="Arial"/>
                <a:cs typeface="Arial"/>
                <a:sym typeface="Arial"/>
              </a:rPr>
              <a:t>INNER JOIN customers c ON b.Customer_ID = c.Customer_ID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740" u="none" cap="none" strike="noStrike">
                <a:solidFill>
                  <a:srgbClr val="DFE7E5"/>
                </a:solidFill>
                <a:latin typeface="Arial"/>
                <a:ea typeface="Arial"/>
                <a:cs typeface="Arial"/>
                <a:sym typeface="Arial"/>
              </a:rPr>
              <a:t>INNER JOIN rooms r ON b.Room_ID = r.Room_ID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740" u="none" cap="none" strike="noStrike">
                <a:solidFill>
                  <a:srgbClr val="DFE7E5"/>
                </a:solidFill>
                <a:latin typeface="Arial"/>
                <a:ea typeface="Arial"/>
                <a:cs typeface="Arial"/>
                <a:sym typeface="Arial"/>
              </a:rPr>
              <a:t>INNER JOIN room_types rt ON r.Type_ID = rt.Type_ID;</a:t>
            </a:r>
            <a:endParaRPr/>
          </a:p>
        </p:txBody>
      </p:sp>
      <p:sp>
        <p:nvSpPr>
          <p:cNvPr id="523" name="Google Shape;523;p23"/>
          <p:cNvSpPr txBox="1"/>
          <p:nvPr/>
        </p:nvSpPr>
        <p:spPr>
          <a:xfrm>
            <a:off x="6583680" y="1664208"/>
            <a:ext cx="43891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166752"/>
                </a:solidFill>
                <a:latin typeface="Arial"/>
                <a:ea typeface="Arial"/>
                <a:cs typeface="Arial"/>
                <a:sym typeface="Arial"/>
              </a:rPr>
              <a:t>RELATIONAL OPERATIONS APPLIED</a:t>
            </a:r>
            <a:endParaRPr/>
          </a:p>
        </p:txBody>
      </p:sp>
      <p:sp>
        <p:nvSpPr>
          <p:cNvPr id="524" name="Google Shape;524;p23"/>
          <p:cNvSpPr/>
          <p:nvPr/>
        </p:nvSpPr>
        <p:spPr>
          <a:xfrm>
            <a:off x="6583680" y="2084831"/>
            <a:ext cx="5010912" cy="694944"/>
          </a:xfrm>
          <a:prstGeom prst="roundRect">
            <a:avLst>
              <a:gd fmla="val 12000" name="adj"/>
            </a:avLst>
          </a:prstGeom>
          <a:solidFill>
            <a:srgbClr val="FFFFFF"/>
          </a:solidFill>
          <a:ln cap="flat" cmpd="sng" w="9525">
            <a:solidFill>
              <a:srgbClr val="E8ECE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5" name="Google Shape;525;p23"/>
          <p:cNvSpPr txBox="1"/>
          <p:nvPr/>
        </p:nvSpPr>
        <p:spPr>
          <a:xfrm>
            <a:off x="6784848" y="2203703"/>
            <a:ext cx="15087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141F2B"/>
                </a:solidFill>
                <a:latin typeface="Arial"/>
                <a:ea typeface="Arial"/>
                <a:cs typeface="Arial"/>
                <a:sym typeface="Arial"/>
              </a:rPr>
              <a:t>INNER JOIN</a:t>
            </a:r>
            <a:endParaRPr/>
          </a:p>
        </p:txBody>
      </p:sp>
      <p:sp>
        <p:nvSpPr>
          <p:cNvPr id="526" name="Google Shape;526;p23"/>
          <p:cNvSpPr txBox="1"/>
          <p:nvPr/>
        </p:nvSpPr>
        <p:spPr>
          <a:xfrm>
            <a:off x="8229600" y="2194560"/>
            <a:ext cx="3090672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30" u="none" cap="none" strike="noStrike">
                <a:solidFill>
                  <a:srgbClr val="5B676F"/>
                </a:solidFill>
                <a:latin typeface="Arial"/>
                <a:ea typeface="Arial"/>
                <a:cs typeface="Arial"/>
                <a:sym typeface="Arial"/>
              </a:rPr>
              <a:t>Connects 4 tables simultaneously to generate customer billing schedules.</a:t>
            </a:r>
            <a:endParaRPr/>
          </a:p>
        </p:txBody>
      </p:sp>
      <p:sp>
        <p:nvSpPr>
          <p:cNvPr id="527" name="Google Shape;527;p23"/>
          <p:cNvSpPr/>
          <p:nvPr/>
        </p:nvSpPr>
        <p:spPr>
          <a:xfrm>
            <a:off x="6583680" y="2871215"/>
            <a:ext cx="5010912" cy="694944"/>
          </a:xfrm>
          <a:prstGeom prst="roundRect">
            <a:avLst>
              <a:gd fmla="val 12000" name="adj"/>
            </a:avLst>
          </a:prstGeom>
          <a:solidFill>
            <a:srgbClr val="FFFFFF"/>
          </a:solidFill>
          <a:ln cap="flat" cmpd="sng" w="9525">
            <a:solidFill>
              <a:srgbClr val="E8ECE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8" name="Google Shape;528;p23"/>
          <p:cNvSpPr txBox="1"/>
          <p:nvPr/>
        </p:nvSpPr>
        <p:spPr>
          <a:xfrm>
            <a:off x="6784848" y="2990087"/>
            <a:ext cx="15087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141F2B"/>
                </a:solidFill>
                <a:latin typeface="Arial"/>
                <a:ea typeface="Arial"/>
                <a:cs typeface="Arial"/>
                <a:sym typeface="Arial"/>
              </a:rPr>
              <a:t>LEFT JOIN</a:t>
            </a:r>
            <a:endParaRPr/>
          </a:p>
        </p:txBody>
      </p:sp>
      <p:sp>
        <p:nvSpPr>
          <p:cNvPr id="529" name="Google Shape;529;p23"/>
          <p:cNvSpPr txBox="1"/>
          <p:nvPr/>
        </p:nvSpPr>
        <p:spPr>
          <a:xfrm>
            <a:off x="8229600" y="2980944"/>
            <a:ext cx="3090672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30" u="none" cap="none" strike="noStrike">
                <a:solidFill>
                  <a:srgbClr val="5B676F"/>
                </a:solidFill>
                <a:latin typeface="Arial"/>
                <a:ea typeface="Arial"/>
                <a:cs typeface="Arial"/>
                <a:sym typeface="Arial"/>
              </a:rPr>
              <a:t>Identifies registered customers who have not placed any reservation yet.</a:t>
            </a:r>
            <a:endParaRPr/>
          </a:p>
        </p:txBody>
      </p:sp>
      <p:sp>
        <p:nvSpPr>
          <p:cNvPr id="530" name="Google Shape;530;p23"/>
          <p:cNvSpPr/>
          <p:nvPr/>
        </p:nvSpPr>
        <p:spPr>
          <a:xfrm>
            <a:off x="6583680" y="3657599"/>
            <a:ext cx="5010912" cy="694944"/>
          </a:xfrm>
          <a:prstGeom prst="roundRect">
            <a:avLst>
              <a:gd fmla="val 12000" name="adj"/>
            </a:avLst>
          </a:prstGeom>
          <a:solidFill>
            <a:srgbClr val="FFFFFF"/>
          </a:solidFill>
          <a:ln cap="flat" cmpd="sng" w="9525">
            <a:solidFill>
              <a:srgbClr val="E8ECE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1" name="Google Shape;531;p23"/>
          <p:cNvSpPr txBox="1"/>
          <p:nvPr/>
        </p:nvSpPr>
        <p:spPr>
          <a:xfrm>
            <a:off x="6784848" y="3776472"/>
            <a:ext cx="15087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141F2B"/>
                </a:solidFill>
                <a:latin typeface="Arial"/>
                <a:ea typeface="Arial"/>
                <a:cs typeface="Arial"/>
                <a:sym typeface="Arial"/>
              </a:rPr>
              <a:t>Aggregate Functions</a:t>
            </a:r>
            <a:endParaRPr/>
          </a:p>
        </p:txBody>
      </p:sp>
      <p:sp>
        <p:nvSpPr>
          <p:cNvPr id="532" name="Google Shape;532;p23"/>
          <p:cNvSpPr txBox="1"/>
          <p:nvPr/>
        </p:nvSpPr>
        <p:spPr>
          <a:xfrm>
            <a:off x="8229600" y="3767327"/>
            <a:ext cx="3090672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30" u="none" cap="none" strike="noStrike">
                <a:solidFill>
                  <a:srgbClr val="5B676F"/>
                </a:solidFill>
                <a:latin typeface="Arial"/>
                <a:ea typeface="Arial"/>
                <a:cs typeface="Arial"/>
                <a:sym typeface="Arial"/>
              </a:rPr>
              <a:t>Evaluates SUM(Total_Amount), AVG(Price_Per_Night), and COUNT(*).</a:t>
            </a:r>
            <a:endParaRPr/>
          </a:p>
        </p:txBody>
      </p:sp>
      <p:sp>
        <p:nvSpPr>
          <p:cNvPr id="533" name="Google Shape;533;p23"/>
          <p:cNvSpPr/>
          <p:nvPr/>
        </p:nvSpPr>
        <p:spPr>
          <a:xfrm>
            <a:off x="6583680" y="4443983"/>
            <a:ext cx="5010912" cy="694944"/>
          </a:xfrm>
          <a:prstGeom prst="roundRect">
            <a:avLst>
              <a:gd fmla="val 12000" name="adj"/>
            </a:avLst>
          </a:prstGeom>
          <a:solidFill>
            <a:srgbClr val="FFFFFF"/>
          </a:solidFill>
          <a:ln cap="flat" cmpd="sng" w="9525">
            <a:solidFill>
              <a:srgbClr val="E8ECE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4" name="Google Shape;534;p23"/>
          <p:cNvSpPr txBox="1"/>
          <p:nvPr/>
        </p:nvSpPr>
        <p:spPr>
          <a:xfrm>
            <a:off x="6784848" y="4562855"/>
            <a:ext cx="15087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141F2B"/>
                </a:solidFill>
                <a:latin typeface="Arial"/>
                <a:ea typeface="Arial"/>
                <a:cs typeface="Arial"/>
                <a:sym typeface="Arial"/>
              </a:rPr>
              <a:t>Subquery Filters</a:t>
            </a:r>
            <a:endParaRPr/>
          </a:p>
        </p:txBody>
      </p:sp>
      <p:sp>
        <p:nvSpPr>
          <p:cNvPr id="535" name="Google Shape;535;p23"/>
          <p:cNvSpPr txBox="1"/>
          <p:nvPr/>
        </p:nvSpPr>
        <p:spPr>
          <a:xfrm>
            <a:off x="8229600" y="4553712"/>
            <a:ext cx="3090672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30" u="none" cap="none" strike="noStrike">
                <a:solidFill>
                  <a:srgbClr val="5B676F"/>
                </a:solidFill>
                <a:latin typeface="Arial"/>
                <a:ea typeface="Arial"/>
                <a:cs typeface="Arial"/>
                <a:sym typeface="Arial"/>
              </a:rPr>
              <a:t>Queries rooms costing above average price using WHERE Price_Per_Night &gt; (SELECT AVG(...) FROM rooms).</a:t>
            </a:r>
            <a:endParaRPr/>
          </a:p>
        </p:txBody>
      </p:sp>
      <p:sp>
        <p:nvSpPr>
          <p:cNvPr id="536" name="Google Shape;536;p23"/>
          <p:cNvSpPr/>
          <p:nvPr/>
        </p:nvSpPr>
        <p:spPr>
          <a:xfrm>
            <a:off x="6583680" y="5230368"/>
            <a:ext cx="5010912" cy="694944"/>
          </a:xfrm>
          <a:prstGeom prst="roundRect">
            <a:avLst>
              <a:gd fmla="val 12000" name="adj"/>
            </a:avLst>
          </a:prstGeom>
          <a:solidFill>
            <a:srgbClr val="FFFFFF"/>
          </a:solidFill>
          <a:ln cap="flat" cmpd="sng" w="9525">
            <a:solidFill>
              <a:srgbClr val="E8ECE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7" name="Google Shape;537;p23"/>
          <p:cNvSpPr txBox="1"/>
          <p:nvPr/>
        </p:nvSpPr>
        <p:spPr>
          <a:xfrm>
            <a:off x="6784848" y="5349240"/>
            <a:ext cx="15087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141F2B"/>
                </a:solidFill>
                <a:latin typeface="Arial"/>
                <a:ea typeface="Arial"/>
                <a:cs typeface="Arial"/>
                <a:sym typeface="Arial"/>
              </a:rPr>
              <a:t>HAVING Clause</a:t>
            </a:r>
            <a:endParaRPr/>
          </a:p>
        </p:txBody>
      </p:sp>
      <p:sp>
        <p:nvSpPr>
          <p:cNvPr id="538" name="Google Shape;538;p23"/>
          <p:cNvSpPr txBox="1"/>
          <p:nvPr/>
        </p:nvSpPr>
        <p:spPr>
          <a:xfrm>
            <a:off x="8229600" y="5340096"/>
            <a:ext cx="3090672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30" u="none" cap="none" strike="noStrike">
                <a:solidFill>
                  <a:srgbClr val="5B676F"/>
                </a:solidFill>
                <a:latin typeface="Arial"/>
                <a:ea typeface="Arial"/>
                <a:cs typeface="Arial"/>
                <a:sym typeface="Arial"/>
              </a:rPr>
              <a:t>Flags VIP customers who spent more than average booking value.</a:t>
            </a:r>
            <a:endParaRPr/>
          </a:p>
        </p:txBody>
      </p:sp>
      <p:sp>
        <p:nvSpPr>
          <p:cNvPr id="539" name="Google Shape;539;p23"/>
          <p:cNvSpPr txBox="1"/>
          <p:nvPr/>
        </p:nvSpPr>
        <p:spPr>
          <a:xfrm>
            <a:off x="594360" y="6510528"/>
            <a:ext cx="43891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5B676F"/>
                </a:solidFill>
                <a:latin typeface="Arial"/>
                <a:ea typeface="Arial"/>
                <a:cs typeface="Arial"/>
                <a:sym typeface="Arial"/>
              </a:rPr>
              <a:t>TEAM 15  •  HOTEL MANAGEMENT SYSTEM</a:t>
            </a:r>
            <a:endParaRPr/>
          </a:p>
        </p:txBody>
      </p:sp>
      <p:sp>
        <p:nvSpPr>
          <p:cNvPr id="540" name="Google Shape;540;p23"/>
          <p:cNvSpPr txBox="1"/>
          <p:nvPr/>
        </p:nvSpPr>
        <p:spPr>
          <a:xfrm>
            <a:off x="10835640" y="6492240"/>
            <a:ext cx="749808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5B676F"/>
                </a:solidFill>
                <a:latin typeface="Arial"/>
                <a:ea typeface="Arial"/>
                <a:cs typeface="Arial"/>
                <a:sym typeface="Arial"/>
              </a:rPr>
              <a:t>10 / 13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6F1"/>
        </a:solidFill>
      </p:bgPr>
    </p:bg>
    <p:spTree>
      <p:nvGrpSpPr>
        <p:cNvPr id="544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p24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3846A"/>
          </a:solidFill>
          <a:ln cap="flat" cmpd="sng" w="9525">
            <a:solidFill>
              <a:srgbClr val="23846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6" name="Google Shape;546;p24"/>
          <p:cNvSpPr/>
          <p:nvPr/>
        </p:nvSpPr>
        <p:spPr>
          <a:xfrm>
            <a:off x="11475720" y="0"/>
            <a:ext cx="713232" cy="73152"/>
          </a:xfrm>
          <a:prstGeom prst="rect">
            <a:avLst/>
          </a:prstGeom>
          <a:solidFill>
            <a:srgbClr val="CD9D48"/>
          </a:solidFill>
          <a:ln cap="flat" cmpd="sng" w="9525">
            <a:solidFill>
              <a:srgbClr val="CD9D4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7" name="Google Shape;547;p24"/>
          <p:cNvSpPr txBox="1"/>
          <p:nvPr/>
        </p:nvSpPr>
        <p:spPr>
          <a:xfrm>
            <a:off x="594360" y="475488"/>
            <a:ext cx="89611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141F2B"/>
                </a:solidFill>
                <a:latin typeface="Arial"/>
                <a:ea typeface="Arial"/>
                <a:cs typeface="Arial"/>
                <a:sym typeface="Arial"/>
              </a:rPr>
              <a:t>Automated Triggers &amp; Functions</a:t>
            </a:r>
            <a:endParaRPr/>
          </a:p>
        </p:txBody>
      </p:sp>
      <p:sp>
        <p:nvSpPr>
          <p:cNvPr id="548" name="Google Shape;548;p24"/>
          <p:cNvSpPr txBox="1"/>
          <p:nvPr/>
        </p:nvSpPr>
        <p:spPr>
          <a:xfrm>
            <a:off x="612648" y="1005840"/>
            <a:ext cx="104241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69747A"/>
                </a:solidFill>
                <a:latin typeface="Arial"/>
                <a:ea typeface="Arial"/>
                <a:cs typeface="Arial"/>
                <a:sym typeface="Arial"/>
              </a:rPr>
              <a:t>Hotel Management System  •  Automated Triggers</a:t>
            </a:r>
            <a:endParaRPr/>
          </a:p>
        </p:txBody>
      </p:sp>
      <p:sp>
        <p:nvSpPr>
          <p:cNvPr id="549" name="Google Shape;549;p24"/>
          <p:cNvSpPr/>
          <p:nvPr/>
        </p:nvSpPr>
        <p:spPr>
          <a:xfrm>
            <a:off x="640080" y="1600200"/>
            <a:ext cx="5321808" cy="1078992"/>
          </a:xfrm>
          <a:prstGeom prst="roundRect">
            <a:avLst>
              <a:gd fmla="val 12000" name="adj"/>
            </a:avLst>
          </a:prstGeom>
          <a:solidFill>
            <a:srgbClr val="FFFFFF"/>
          </a:solidFill>
          <a:ln cap="flat" cmpd="sng" w="9525">
            <a:solidFill>
              <a:srgbClr val="E8ECE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0" name="Google Shape;550;p24"/>
          <p:cNvSpPr/>
          <p:nvPr/>
        </p:nvSpPr>
        <p:spPr>
          <a:xfrm>
            <a:off x="640080" y="1600200"/>
            <a:ext cx="64008" cy="1078992"/>
          </a:xfrm>
          <a:prstGeom prst="rect">
            <a:avLst/>
          </a:prstGeom>
          <a:solidFill>
            <a:srgbClr val="23846A"/>
          </a:solidFill>
          <a:ln cap="flat" cmpd="sng" w="9525">
            <a:solidFill>
              <a:srgbClr val="23846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1" name="Google Shape;551;p24"/>
          <p:cNvSpPr/>
          <p:nvPr/>
        </p:nvSpPr>
        <p:spPr>
          <a:xfrm>
            <a:off x="841247" y="1783080"/>
            <a:ext cx="347472" cy="347472"/>
          </a:xfrm>
          <a:prstGeom prst="roundRect">
            <a:avLst>
              <a:gd fmla="val 12000" name="adj"/>
            </a:avLst>
          </a:prstGeom>
          <a:solidFill>
            <a:srgbClr val="23846A"/>
          </a:solidFill>
          <a:ln cap="flat" cmpd="sng" w="9525">
            <a:solidFill>
              <a:srgbClr val="23846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2" name="Google Shape;552;p24"/>
          <p:cNvSpPr txBox="1"/>
          <p:nvPr/>
        </p:nvSpPr>
        <p:spPr>
          <a:xfrm>
            <a:off x="841247" y="1778508"/>
            <a:ext cx="347472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27425" lIns="27425" spcFirstLastPara="1" rIns="27425" wrap="square" tIns="274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/>
          </a:p>
        </p:txBody>
      </p:sp>
      <p:sp>
        <p:nvSpPr>
          <p:cNvPr id="553" name="Google Shape;553;p24"/>
          <p:cNvSpPr txBox="1"/>
          <p:nvPr/>
        </p:nvSpPr>
        <p:spPr>
          <a:xfrm>
            <a:off x="1298448" y="1783080"/>
            <a:ext cx="4462272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41F2B"/>
                </a:solidFill>
                <a:latin typeface="Arial"/>
                <a:ea typeface="Arial"/>
                <a:cs typeface="Arial"/>
                <a:sym typeface="Arial"/>
              </a:rPr>
              <a:t>before_booking_insert</a:t>
            </a:r>
            <a:endParaRPr/>
          </a:p>
        </p:txBody>
      </p:sp>
      <p:sp>
        <p:nvSpPr>
          <p:cNvPr id="554" name="Google Shape;554;p24"/>
          <p:cNvSpPr txBox="1"/>
          <p:nvPr/>
        </p:nvSpPr>
        <p:spPr>
          <a:xfrm>
            <a:off x="1298448" y="2185416"/>
            <a:ext cx="4434840" cy="365759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5B676F"/>
                </a:solidFill>
                <a:latin typeface="Arial"/>
                <a:ea typeface="Arial"/>
                <a:cs typeface="Arial"/>
                <a:sym typeface="Arial"/>
              </a:rPr>
              <a:t>Eliminates human tariff calculation errors by multiplying night duration by the room rate prior to database insertion.</a:t>
            </a:r>
            <a:endParaRPr/>
          </a:p>
        </p:txBody>
      </p:sp>
      <p:sp>
        <p:nvSpPr>
          <p:cNvPr id="555" name="Google Shape;555;p24"/>
          <p:cNvSpPr/>
          <p:nvPr/>
        </p:nvSpPr>
        <p:spPr>
          <a:xfrm>
            <a:off x="6236208" y="1600200"/>
            <a:ext cx="5321808" cy="1078992"/>
          </a:xfrm>
          <a:prstGeom prst="roundRect">
            <a:avLst>
              <a:gd fmla="val 12000" name="adj"/>
            </a:avLst>
          </a:prstGeom>
          <a:solidFill>
            <a:srgbClr val="FFFFFF"/>
          </a:solidFill>
          <a:ln cap="flat" cmpd="sng" w="9525">
            <a:solidFill>
              <a:srgbClr val="E8ECE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6" name="Google Shape;556;p24"/>
          <p:cNvSpPr/>
          <p:nvPr/>
        </p:nvSpPr>
        <p:spPr>
          <a:xfrm>
            <a:off x="6236208" y="1600200"/>
            <a:ext cx="64008" cy="1078992"/>
          </a:xfrm>
          <a:prstGeom prst="rect">
            <a:avLst/>
          </a:prstGeom>
          <a:solidFill>
            <a:srgbClr val="CD9D48"/>
          </a:solidFill>
          <a:ln cap="flat" cmpd="sng" w="9525">
            <a:solidFill>
              <a:srgbClr val="CD9D4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7" name="Google Shape;557;p24"/>
          <p:cNvSpPr/>
          <p:nvPr/>
        </p:nvSpPr>
        <p:spPr>
          <a:xfrm>
            <a:off x="6437376" y="1783080"/>
            <a:ext cx="347472" cy="347472"/>
          </a:xfrm>
          <a:prstGeom prst="roundRect">
            <a:avLst>
              <a:gd fmla="val 12000" name="adj"/>
            </a:avLst>
          </a:prstGeom>
          <a:solidFill>
            <a:srgbClr val="CD9D48"/>
          </a:solidFill>
          <a:ln cap="flat" cmpd="sng" w="9525">
            <a:solidFill>
              <a:srgbClr val="CD9D4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8" name="Google Shape;558;p24"/>
          <p:cNvSpPr txBox="1"/>
          <p:nvPr/>
        </p:nvSpPr>
        <p:spPr>
          <a:xfrm>
            <a:off x="6437376" y="1778508"/>
            <a:ext cx="347472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27425" lIns="27425" spcFirstLastPara="1" rIns="27425" wrap="square" tIns="274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/>
          </a:p>
        </p:txBody>
      </p:sp>
      <p:sp>
        <p:nvSpPr>
          <p:cNvPr id="559" name="Google Shape;559;p24"/>
          <p:cNvSpPr txBox="1"/>
          <p:nvPr/>
        </p:nvSpPr>
        <p:spPr>
          <a:xfrm>
            <a:off x="6894576" y="1783080"/>
            <a:ext cx="4462272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41F2B"/>
                </a:solidFill>
                <a:latin typeface="Arial"/>
                <a:ea typeface="Arial"/>
                <a:cs typeface="Arial"/>
                <a:sym typeface="Arial"/>
              </a:rPr>
              <a:t>after_payment_insert</a:t>
            </a:r>
            <a:endParaRPr/>
          </a:p>
        </p:txBody>
      </p:sp>
      <p:sp>
        <p:nvSpPr>
          <p:cNvPr id="560" name="Google Shape;560;p24"/>
          <p:cNvSpPr txBox="1"/>
          <p:nvPr/>
        </p:nvSpPr>
        <p:spPr>
          <a:xfrm>
            <a:off x="6894576" y="2185416"/>
            <a:ext cx="4434840" cy="365759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5B676F"/>
                </a:solidFill>
                <a:latin typeface="Arial"/>
                <a:ea typeface="Arial"/>
                <a:cs typeface="Arial"/>
                <a:sym typeface="Arial"/>
              </a:rPr>
              <a:t>Automatically switches booking status from pending to 'Confirmed' the moment full payment is successfully logged.</a:t>
            </a:r>
            <a:endParaRPr/>
          </a:p>
        </p:txBody>
      </p:sp>
      <p:sp>
        <p:nvSpPr>
          <p:cNvPr id="561" name="Google Shape;561;p24"/>
          <p:cNvSpPr/>
          <p:nvPr/>
        </p:nvSpPr>
        <p:spPr>
          <a:xfrm>
            <a:off x="640080" y="2944368"/>
            <a:ext cx="5321808" cy="3072384"/>
          </a:xfrm>
          <a:prstGeom prst="roundRect">
            <a:avLst>
              <a:gd fmla="val 12000" name="adj"/>
            </a:avLst>
          </a:prstGeom>
          <a:solidFill>
            <a:srgbClr val="232B32"/>
          </a:solidFill>
          <a:ln cap="flat" cmpd="sng" w="9525">
            <a:solidFill>
              <a:srgbClr val="414C5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2" name="Google Shape;562;p24"/>
          <p:cNvSpPr txBox="1"/>
          <p:nvPr/>
        </p:nvSpPr>
        <p:spPr>
          <a:xfrm>
            <a:off x="822959" y="3063240"/>
            <a:ext cx="4956048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CD9D48"/>
                </a:solidFill>
                <a:latin typeface="Arial"/>
                <a:ea typeface="Arial"/>
                <a:cs typeface="Arial"/>
                <a:sym typeface="Arial"/>
              </a:rPr>
              <a:t>TRIGGER 01  •  TARIFF CALCULATION</a:t>
            </a:r>
            <a:endParaRPr/>
          </a:p>
        </p:txBody>
      </p:sp>
      <p:sp>
        <p:nvSpPr>
          <p:cNvPr id="563" name="Google Shape;563;p24"/>
          <p:cNvSpPr txBox="1"/>
          <p:nvPr/>
        </p:nvSpPr>
        <p:spPr>
          <a:xfrm>
            <a:off x="822959" y="3355848"/>
            <a:ext cx="4956048" cy="2523744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40" u="none" cap="none" strike="noStrike">
                <a:solidFill>
                  <a:srgbClr val="DFE7E5"/>
                </a:solidFill>
                <a:latin typeface="Arial"/>
                <a:ea typeface="Arial"/>
                <a:cs typeface="Arial"/>
                <a:sym typeface="Arial"/>
              </a:rPr>
              <a:t>DELIMITER //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740" u="none" cap="none" strike="noStrike">
                <a:solidFill>
                  <a:srgbClr val="DFE7E5"/>
                </a:solidFill>
                <a:latin typeface="Arial"/>
                <a:ea typeface="Arial"/>
                <a:cs typeface="Arial"/>
                <a:sym typeface="Arial"/>
              </a:rPr>
              <a:t>CREATE TRIGGER before_booking_insert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740" u="none" cap="none" strike="noStrike">
                <a:solidFill>
                  <a:srgbClr val="DFE7E5"/>
                </a:solidFill>
                <a:latin typeface="Arial"/>
                <a:ea typeface="Arial"/>
                <a:cs typeface="Arial"/>
                <a:sym typeface="Arial"/>
              </a:rPr>
              <a:t>BEFORE INSERT ON bookings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740" u="none" cap="none" strike="noStrike">
                <a:solidFill>
                  <a:srgbClr val="DFE7E5"/>
                </a:solidFill>
                <a:latin typeface="Arial"/>
                <a:ea typeface="Arial"/>
                <a:cs typeface="Arial"/>
                <a:sym typeface="Arial"/>
              </a:rPr>
              <a:t>FOR EACH ROW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740" u="none" cap="none" strike="noStrike">
                <a:solidFill>
                  <a:srgbClr val="DFE7E5"/>
                </a:solidFill>
                <a:latin typeface="Arial"/>
                <a:ea typeface="Arial"/>
                <a:cs typeface="Arial"/>
                <a:sym typeface="Arial"/>
              </a:rPr>
              <a:t>BEGIN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740" u="none" cap="none" strike="noStrike">
                <a:solidFill>
                  <a:srgbClr val="DFE7E5"/>
                </a:solidFill>
                <a:latin typeface="Arial"/>
                <a:ea typeface="Arial"/>
                <a:cs typeface="Arial"/>
                <a:sym typeface="Arial"/>
              </a:rPr>
              <a:t>  DECLARE room_rate DECIMAL(10,2);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740" u="none" cap="none" strike="noStrike">
                <a:solidFill>
                  <a:srgbClr val="DFE7E5"/>
                </a:solidFill>
                <a:latin typeface="Arial"/>
                <a:ea typeface="Arial"/>
                <a:cs typeface="Arial"/>
                <a:sym typeface="Arial"/>
              </a:rPr>
              <a:t>  SELECT Price_Per_Night INTO room_rate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740" u="none" cap="none" strike="noStrike">
                <a:solidFill>
                  <a:srgbClr val="DFE7E5"/>
                </a:solidFill>
                <a:latin typeface="Arial"/>
                <a:ea typeface="Arial"/>
                <a:cs typeface="Arial"/>
                <a:sym typeface="Arial"/>
              </a:rPr>
              <a:t>  FROM rooms WHERE Room_ID = NEW.Room_ID;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740" u="none" cap="none" strike="noStrike">
                <a:solidFill>
                  <a:srgbClr val="DFE7E5"/>
                </a:solidFill>
                <a:latin typeface="Arial"/>
                <a:ea typeface="Arial"/>
                <a:cs typeface="Arial"/>
                <a:sym typeface="Arial"/>
              </a:rPr>
              <a:t>  SET NEW.Total_Amount =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740" u="none" cap="none" strike="noStrike">
                <a:solidFill>
                  <a:srgbClr val="DFE7E5"/>
                </a:solidFill>
                <a:latin typeface="Arial"/>
                <a:ea typeface="Arial"/>
                <a:cs typeface="Arial"/>
                <a:sym typeface="Arial"/>
              </a:rPr>
              <a:t>    DATEDIFF(NEW.Check_Out_Date, NEW.Check_In_Date) * room_rate;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740" u="none" cap="none" strike="noStrike">
                <a:solidFill>
                  <a:srgbClr val="DFE7E5"/>
                </a:solidFill>
                <a:latin typeface="Arial"/>
                <a:ea typeface="Arial"/>
                <a:cs typeface="Arial"/>
                <a:sym typeface="Arial"/>
              </a:rPr>
              <a:t>END//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740" u="none" cap="none" strike="noStrike">
                <a:solidFill>
                  <a:srgbClr val="DFE7E5"/>
                </a:solidFill>
                <a:latin typeface="Arial"/>
                <a:ea typeface="Arial"/>
                <a:cs typeface="Arial"/>
                <a:sym typeface="Arial"/>
              </a:rPr>
              <a:t>DELIMITER ;</a:t>
            </a:r>
            <a:endParaRPr/>
          </a:p>
        </p:txBody>
      </p:sp>
      <p:sp>
        <p:nvSpPr>
          <p:cNvPr id="564" name="Google Shape;564;p24"/>
          <p:cNvSpPr/>
          <p:nvPr/>
        </p:nvSpPr>
        <p:spPr>
          <a:xfrm>
            <a:off x="6236208" y="2944368"/>
            <a:ext cx="5321808" cy="3072384"/>
          </a:xfrm>
          <a:prstGeom prst="roundRect">
            <a:avLst>
              <a:gd fmla="val 12000" name="adj"/>
            </a:avLst>
          </a:prstGeom>
          <a:solidFill>
            <a:srgbClr val="232B32"/>
          </a:solidFill>
          <a:ln cap="flat" cmpd="sng" w="9525">
            <a:solidFill>
              <a:srgbClr val="414C5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5" name="Google Shape;565;p24"/>
          <p:cNvSpPr txBox="1"/>
          <p:nvPr/>
        </p:nvSpPr>
        <p:spPr>
          <a:xfrm>
            <a:off x="6419088" y="3063240"/>
            <a:ext cx="4956048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CD9D48"/>
                </a:solidFill>
                <a:latin typeface="Arial"/>
                <a:ea typeface="Arial"/>
                <a:cs typeface="Arial"/>
                <a:sym typeface="Arial"/>
              </a:rPr>
              <a:t>TRIGGER 02  •  PAYMENT CONFIRMATION</a:t>
            </a:r>
            <a:endParaRPr/>
          </a:p>
        </p:txBody>
      </p:sp>
      <p:sp>
        <p:nvSpPr>
          <p:cNvPr id="566" name="Google Shape;566;p24"/>
          <p:cNvSpPr txBox="1"/>
          <p:nvPr/>
        </p:nvSpPr>
        <p:spPr>
          <a:xfrm>
            <a:off x="6419088" y="3355848"/>
            <a:ext cx="4956048" cy="2523744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40" u="none" cap="none" strike="noStrike">
                <a:solidFill>
                  <a:srgbClr val="DFE7E5"/>
                </a:solidFill>
                <a:latin typeface="Arial"/>
                <a:ea typeface="Arial"/>
                <a:cs typeface="Arial"/>
                <a:sym typeface="Arial"/>
              </a:rPr>
              <a:t>DELIMITER //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740" u="none" cap="none" strike="noStrike">
                <a:solidFill>
                  <a:srgbClr val="DFE7E5"/>
                </a:solidFill>
                <a:latin typeface="Arial"/>
                <a:ea typeface="Arial"/>
                <a:cs typeface="Arial"/>
                <a:sym typeface="Arial"/>
              </a:rPr>
              <a:t>CREATE TRIGGER after_payment_insert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740" u="none" cap="none" strike="noStrike">
                <a:solidFill>
                  <a:srgbClr val="DFE7E5"/>
                </a:solidFill>
                <a:latin typeface="Arial"/>
                <a:ea typeface="Arial"/>
                <a:cs typeface="Arial"/>
                <a:sym typeface="Arial"/>
              </a:rPr>
              <a:t>AFTER INSERT ON payments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740" u="none" cap="none" strike="noStrike">
                <a:solidFill>
                  <a:srgbClr val="DFE7E5"/>
                </a:solidFill>
                <a:latin typeface="Arial"/>
                <a:ea typeface="Arial"/>
                <a:cs typeface="Arial"/>
                <a:sym typeface="Arial"/>
              </a:rPr>
              <a:t>FOR EACH ROW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740" u="none" cap="none" strike="noStrike">
                <a:solidFill>
                  <a:srgbClr val="DFE7E5"/>
                </a:solidFill>
                <a:latin typeface="Arial"/>
                <a:ea typeface="Arial"/>
                <a:cs typeface="Arial"/>
                <a:sym typeface="Arial"/>
              </a:rPr>
              <a:t>BEGIN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740" u="none" cap="none" strike="noStrike">
                <a:solidFill>
                  <a:srgbClr val="DFE7E5"/>
                </a:solidFill>
                <a:latin typeface="Arial"/>
                <a:ea typeface="Arial"/>
                <a:cs typeface="Arial"/>
                <a:sym typeface="Arial"/>
              </a:rPr>
              <a:t>  IF NEW.Payment_Status = 'Completed' THEN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740" u="none" cap="none" strike="noStrike">
                <a:solidFill>
                  <a:srgbClr val="DFE7E5"/>
                </a:solidFill>
                <a:latin typeface="Arial"/>
                <a:ea typeface="Arial"/>
                <a:cs typeface="Arial"/>
                <a:sym typeface="Arial"/>
              </a:rPr>
              <a:t>    UPDATE bookings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740" u="none" cap="none" strike="noStrike">
                <a:solidFill>
                  <a:srgbClr val="DFE7E5"/>
                </a:solidFill>
                <a:latin typeface="Arial"/>
                <a:ea typeface="Arial"/>
                <a:cs typeface="Arial"/>
                <a:sym typeface="Arial"/>
              </a:rPr>
              <a:t>    SET Status = 'Confirmed'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740" u="none" cap="none" strike="noStrike">
                <a:solidFill>
                  <a:srgbClr val="DFE7E5"/>
                </a:solidFill>
                <a:latin typeface="Arial"/>
                <a:ea typeface="Arial"/>
                <a:cs typeface="Arial"/>
                <a:sym typeface="Arial"/>
              </a:rPr>
              <a:t>    WHERE Booking_ID = NEW.Booking_ID;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740" u="none" cap="none" strike="noStrike">
                <a:solidFill>
                  <a:srgbClr val="DFE7E5"/>
                </a:solidFill>
                <a:latin typeface="Arial"/>
                <a:ea typeface="Arial"/>
                <a:cs typeface="Arial"/>
                <a:sym typeface="Arial"/>
              </a:rPr>
              <a:t>  END IF;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740" u="none" cap="none" strike="noStrike">
                <a:solidFill>
                  <a:srgbClr val="DFE7E5"/>
                </a:solidFill>
                <a:latin typeface="Arial"/>
                <a:ea typeface="Arial"/>
                <a:cs typeface="Arial"/>
                <a:sym typeface="Arial"/>
              </a:rPr>
              <a:t>END//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740" u="none" cap="none" strike="noStrike">
                <a:solidFill>
                  <a:srgbClr val="DFE7E5"/>
                </a:solidFill>
                <a:latin typeface="Arial"/>
                <a:ea typeface="Arial"/>
                <a:cs typeface="Arial"/>
                <a:sym typeface="Arial"/>
              </a:rPr>
              <a:t>DELIMITER ;</a:t>
            </a:r>
            <a:endParaRPr/>
          </a:p>
        </p:txBody>
      </p:sp>
      <p:sp>
        <p:nvSpPr>
          <p:cNvPr id="567" name="Google Shape;567;p24"/>
          <p:cNvSpPr txBox="1"/>
          <p:nvPr/>
        </p:nvSpPr>
        <p:spPr>
          <a:xfrm>
            <a:off x="594360" y="6510528"/>
            <a:ext cx="43891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5B676F"/>
                </a:solidFill>
                <a:latin typeface="Arial"/>
                <a:ea typeface="Arial"/>
                <a:cs typeface="Arial"/>
                <a:sym typeface="Arial"/>
              </a:rPr>
              <a:t>TEAM 15  •  HOTEL MANAGEMENT SYSTEM</a:t>
            </a:r>
            <a:endParaRPr/>
          </a:p>
        </p:txBody>
      </p:sp>
      <p:sp>
        <p:nvSpPr>
          <p:cNvPr id="568" name="Google Shape;568;p24"/>
          <p:cNvSpPr txBox="1"/>
          <p:nvPr/>
        </p:nvSpPr>
        <p:spPr>
          <a:xfrm>
            <a:off x="10835640" y="6492240"/>
            <a:ext cx="749808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5B676F"/>
                </a:solidFill>
                <a:latin typeface="Arial"/>
                <a:ea typeface="Arial"/>
                <a:cs typeface="Arial"/>
                <a:sym typeface="Arial"/>
              </a:rPr>
              <a:t>11 / 13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6F1"/>
        </a:solidFill>
      </p:bgPr>
    </p:bg>
    <p:spTree>
      <p:nvGrpSpPr>
        <p:cNvPr id="572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p25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3846A"/>
          </a:solidFill>
          <a:ln cap="flat" cmpd="sng" w="9525">
            <a:solidFill>
              <a:srgbClr val="23846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4" name="Google Shape;574;p25"/>
          <p:cNvSpPr/>
          <p:nvPr/>
        </p:nvSpPr>
        <p:spPr>
          <a:xfrm>
            <a:off x="11475720" y="0"/>
            <a:ext cx="713232" cy="73152"/>
          </a:xfrm>
          <a:prstGeom prst="rect">
            <a:avLst/>
          </a:prstGeom>
          <a:solidFill>
            <a:srgbClr val="CD9D48"/>
          </a:solidFill>
          <a:ln cap="flat" cmpd="sng" w="9525">
            <a:solidFill>
              <a:srgbClr val="CD9D4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5" name="Google Shape;575;p25"/>
          <p:cNvSpPr txBox="1"/>
          <p:nvPr/>
        </p:nvSpPr>
        <p:spPr>
          <a:xfrm>
            <a:off x="594360" y="475488"/>
            <a:ext cx="89611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141F2B"/>
                </a:solidFill>
                <a:latin typeface="Arial"/>
                <a:ea typeface="Arial"/>
                <a:cs typeface="Arial"/>
                <a:sym typeface="Arial"/>
              </a:rPr>
              <a:t>Advanced Database Features</a:t>
            </a:r>
            <a:endParaRPr/>
          </a:p>
        </p:txBody>
      </p:sp>
      <p:sp>
        <p:nvSpPr>
          <p:cNvPr id="576" name="Google Shape;576;p25"/>
          <p:cNvSpPr txBox="1"/>
          <p:nvPr/>
        </p:nvSpPr>
        <p:spPr>
          <a:xfrm>
            <a:off x="612648" y="1005840"/>
            <a:ext cx="10424100" cy="2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The implementation extends beyond standard tables by incorporating high-performance enterprise features from hotel_management_sys.sql.</a:t>
            </a:r>
            <a:endParaRPr sz="1300">
              <a:solidFill>
                <a:schemeClr val="dk2"/>
              </a:solidFill>
            </a:endParaRPr>
          </a:p>
        </p:txBody>
      </p:sp>
      <p:sp>
        <p:nvSpPr>
          <p:cNvPr id="577" name="Google Shape;577;p25"/>
          <p:cNvSpPr/>
          <p:nvPr/>
        </p:nvSpPr>
        <p:spPr>
          <a:xfrm>
            <a:off x="640080" y="1691640"/>
            <a:ext cx="3401568" cy="1874519"/>
          </a:xfrm>
          <a:prstGeom prst="roundRect">
            <a:avLst>
              <a:gd fmla="val 12000" name="adj"/>
            </a:avLst>
          </a:prstGeom>
          <a:solidFill>
            <a:srgbClr val="FFFFFF"/>
          </a:solidFill>
          <a:ln cap="flat" cmpd="sng" w="9525">
            <a:solidFill>
              <a:srgbClr val="E8ECE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8" name="Google Shape;578;p25"/>
          <p:cNvSpPr/>
          <p:nvPr/>
        </p:nvSpPr>
        <p:spPr>
          <a:xfrm>
            <a:off x="640080" y="1691640"/>
            <a:ext cx="3401568" cy="73152"/>
          </a:xfrm>
          <a:prstGeom prst="rect">
            <a:avLst/>
          </a:prstGeom>
          <a:solidFill>
            <a:srgbClr val="23846A"/>
          </a:solidFill>
          <a:ln cap="flat" cmpd="sng" w="9525">
            <a:solidFill>
              <a:srgbClr val="23846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9" name="Google Shape;579;p25"/>
          <p:cNvSpPr txBox="1"/>
          <p:nvPr/>
        </p:nvSpPr>
        <p:spPr>
          <a:xfrm>
            <a:off x="859536" y="1947672"/>
            <a:ext cx="6400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23846A"/>
                </a:solidFill>
                <a:latin typeface="Arial"/>
                <a:ea typeface="Arial"/>
                <a:cs typeface="Arial"/>
                <a:sym typeface="Arial"/>
              </a:rPr>
              <a:t>VIEW</a:t>
            </a:r>
            <a:endParaRPr/>
          </a:p>
        </p:txBody>
      </p:sp>
      <p:sp>
        <p:nvSpPr>
          <p:cNvPr id="580" name="Google Shape;580;p25"/>
          <p:cNvSpPr txBox="1"/>
          <p:nvPr/>
        </p:nvSpPr>
        <p:spPr>
          <a:xfrm>
            <a:off x="859536" y="2313432"/>
            <a:ext cx="2962656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41F2B"/>
                </a:solidFill>
                <a:latin typeface="Arial"/>
                <a:ea typeface="Arial"/>
                <a:cs typeface="Arial"/>
                <a:sym typeface="Arial"/>
              </a:rPr>
              <a:t>SQL Views</a:t>
            </a:r>
            <a:endParaRPr/>
          </a:p>
        </p:txBody>
      </p:sp>
      <p:sp>
        <p:nvSpPr>
          <p:cNvPr id="581" name="Google Shape;581;p25"/>
          <p:cNvSpPr txBox="1"/>
          <p:nvPr/>
        </p:nvSpPr>
        <p:spPr>
          <a:xfrm>
            <a:off x="859536" y="2715768"/>
            <a:ext cx="2962656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19" u="none" cap="none" strike="noStrike">
                <a:solidFill>
                  <a:srgbClr val="5B676F"/>
                </a:solidFill>
                <a:latin typeface="Arial"/>
                <a:ea typeface="Arial"/>
                <a:cs typeface="Arial"/>
                <a:sym typeface="Arial"/>
              </a:rPr>
              <a:t>available_rooms and booking_report provide instant joined summaries for front-desk reception.</a:t>
            </a:r>
            <a:endParaRPr/>
          </a:p>
        </p:txBody>
      </p:sp>
      <p:sp>
        <p:nvSpPr>
          <p:cNvPr id="582" name="Google Shape;582;p25"/>
          <p:cNvSpPr/>
          <p:nvPr/>
        </p:nvSpPr>
        <p:spPr>
          <a:xfrm>
            <a:off x="4389120" y="1691640"/>
            <a:ext cx="3401568" cy="1874519"/>
          </a:xfrm>
          <a:prstGeom prst="roundRect">
            <a:avLst>
              <a:gd fmla="val 12000" name="adj"/>
            </a:avLst>
          </a:prstGeom>
          <a:solidFill>
            <a:srgbClr val="FFFFFF"/>
          </a:solidFill>
          <a:ln cap="flat" cmpd="sng" w="9525">
            <a:solidFill>
              <a:srgbClr val="E8ECE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3" name="Google Shape;583;p25"/>
          <p:cNvSpPr/>
          <p:nvPr/>
        </p:nvSpPr>
        <p:spPr>
          <a:xfrm>
            <a:off x="4389120" y="1691640"/>
            <a:ext cx="3401568" cy="73152"/>
          </a:xfrm>
          <a:prstGeom prst="rect">
            <a:avLst/>
          </a:prstGeom>
          <a:solidFill>
            <a:srgbClr val="CD9D48"/>
          </a:solidFill>
          <a:ln cap="flat" cmpd="sng" w="9525">
            <a:solidFill>
              <a:srgbClr val="CD9D4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4" name="Google Shape;584;p25"/>
          <p:cNvSpPr txBox="1"/>
          <p:nvPr/>
        </p:nvSpPr>
        <p:spPr>
          <a:xfrm>
            <a:off x="4608576" y="1947672"/>
            <a:ext cx="6400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CD9D48"/>
                </a:solidFill>
                <a:latin typeface="Arial"/>
                <a:ea typeface="Arial"/>
                <a:cs typeface="Arial"/>
                <a:sym typeface="Arial"/>
              </a:rPr>
              <a:t>PROC</a:t>
            </a:r>
            <a:endParaRPr/>
          </a:p>
        </p:txBody>
      </p:sp>
      <p:sp>
        <p:nvSpPr>
          <p:cNvPr id="585" name="Google Shape;585;p25"/>
          <p:cNvSpPr txBox="1"/>
          <p:nvPr/>
        </p:nvSpPr>
        <p:spPr>
          <a:xfrm>
            <a:off x="4608576" y="2313432"/>
            <a:ext cx="2962656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41F2B"/>
                </a:solidFill>
                <a:latin typeface="Arial"/>
                <a:ea typeface="Arial"/>
                <a:cs typeface="Arial"/>
                <a:sym typeface="Arial"/>
              </a:rPr>
              <a:t>Stored Procedures</a:t>
            </a:r>
            <a:endParaRPr/>
          </a:p>
        </p:txBody>
      </p:sp>
      <p:sp>
        <p:nvSpPr>
          <p:cNvPr id="586" name="Google Shape;586;p25"/>
          <p:cNvSpPr txBox="1"/>
          <p:nvPr/>
        </p:nvSpPr>
        <p:spPr>
          <a:xfrm>
            <a:off x="4608576" y="2715768"/>
            <a:ext cx="2962656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19" u="none" cap="none" strike="noStrike">
                <a:solidFill>
                  <a:srgbClr val="5B676F"/>
                </a:solidFill>
                <a:latin typeface="Arial"/>
                <a:ea typeface="Arial"/>
                <a:cs typeface="Arial"/>
                <a:sym typeface="Arial"/>
              </a:rPr>
              <a:t>GetAvailableRooms(), GetCustomerBookings(), and AddCustomer() encapsulate business logic.</a:t>
            </a:r>
            <a:endParaRPr/>
          </a:p>
        </p:txBody>
      </p:sp>
      <p:sp>
        <p:nvSpPr>
          <p:cNvPr id="587" name="Google Shape;587;p25"/>
          <p:cNvSpPr/>
          <p:nvPr/>
        </p:nvSpPr>
        <p:spPr>
          <a:xfrm>
            <a:off x="8138160" y="1691640"/>
            <a:ext cx="3401568" cy="1874519"/>
          </a:xfrm>
          <a:prstGeom prst="roundRect">
            <a:avLst>
              <a:gd fmla="val 12000" name="adj"/>
            </a:avLst>
          </a:prstGeom>
          <a:solidFill>
            <a:srgbClr val="FFFFFF"/>
          </a:solidFill>
          <a:ln cap="flat" cmpd="sng" w="9525">
            <a:solidFill>
              <a:srgbClr val="E8ECE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8" name="Google Shape;588;p25"/>
          <p:cNvSpPr/>
          <p:nvPr/>
        </p:nvSpPr>
        <p:spPr>
          <a:xfrm>
            <a:off x="8138160" y="1691640"/>
            <a:ext cx="3401568" cy="73152"/>
          </a:xfrm>
          <a:prstGeom prst="rect">
            <a:avLst/>
          </a:prstGeom>
          <a:solidFill>
            <a:srgbClr val="406AA6"/>
          </a:solidFill>
          <a:ln cap="flat" cmpd="sng" w="9525">
            <a:solidFill>
              <a:srgbClr val="406AA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9" name="Google Shape;589;p25"/>
          <p:cNvSpPr txBox="1"/>
          <p:nvPr/>
        </p:nvSpPr>
        <p:spPr>
          <a:xfrm>
            <a:off x="8357616" y="1947672"/>
            <a:ext cx="6400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406AA6"/>
                </a:solidFill>
                <a:latin typeface="Arial"/>
                <a:ea typeface="Arial"/>
                <a:cs typeface="Arial"/>
                <a:sym typeface="Arial"/>
              </a:rPr>
              <a:t>UDF</a:t>
            </a:r>
            <a:endParaRPr/>
          </a:p>
        </p:txBody>
      </p:sp>
      <p:sp>
        <p:nvSpPr>
          <p:cNvPr id="590" name="Google Shape;590;p25"/>
          <p:cNvSpPr txBox="1"/>
          <p:nvPr/>
        </p:nvSpPr>
        <p:spPr>
          <a:xfrm>
            <a:off x="8357616" y="2313432"/>
            <a:ext cx="2962656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41F2B"/>
                </a:solidFill>
                <a:latin typeface="Arial"/>
                <a:ea typeface="Arial"/>
                <a:cs typeface="Arial"/>
                <a:sym typeface="Arial"/>
              </a:rPr>
              <a:t>UDF Functions</a:t>
            </a:r>
            <a:endParaRPr/>
          </a:p>
        </p:txBody>
      </p:sp>
      <p:sp>
        <p:nvSpPr>
          <p:cNvPr id="591" name="Google Shape;591;p25"/>
          <p:cNvSpPr txBox="1"/>
          <p:nvPr/>
        </p:nvSpPr>
        <p:spPr>
          <a:xfrm>
            <a:off x="8357616" y="2715768"/>
            <a:ext cx="2962656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19" u="none" cap="none" strike="noStrike">
                <a:solidFill>
                  <a:srgbClr val="5B676F"/>
                </a:solidFill>
                <a:latin typeface="Arial"/>
                <a:ea typeface="Arial"/>
                <a:cs typeface="Arial"/>
                <a:sym typeface="Arial"/>
              </a:rPr>
              <a:t>CalculateNights() and CalculateBookingCost() dynamically derive total stay cost for any dates.</a:t>
            </a:r>
            <a:endParaRPr/>
          </a:p>
        </p:txBody>
      </p:sp>
      <p:sp>
        <p:nvSpPr>
          <p:cNvPr id="592" name="Google Shape;592;p25"/>
          <p:cNvSpPr/>
          <p:nvPr/>
        </p:nvSpPr>
        <p:spPr>
          <a:xfrm>
            <a:off x="640080" y="3886200"/>
            <a:ext cx="5413248" cy="1874519"/>
          </a:xfrm>
          <a:prstGeom prst="roundRect">
            <a:avLst>
              <a:gd fmla="val 12000" name="adj"/>
            </a:avLst>
          </a:prstGeom>
          <a:solidFill>
            <a:srgbClr val="FFFFFF"/>
          </a:solidFill>
          <a:ln cap="flat" cmpd="sng" w="9525">
            <a:solidFill>
              <a:srgbClr val="E8ECE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3" name="Google Shape;593;p25"/>
          <p:cNvSpPr/>
          <p:nvPr/>
        </p:nvSpPr>
        <p:spPr>
          <a:xfrm>
            <a:off x="640080" y="3886200"/>
            <a:ext cx="5413248" cy="73152"/>
          </a:xfrm>
          <a:prstGeom prst="rect">
            <a:avLst/>
          </a:prstGeom>
          <a:solidFill>
            <a:srgbClr val="166752"/>
          </a:solidFill>
          <a:ln cap="flat" cmpd="sng" w="9525">
            <a:solidFill>
              <a:srgbClr val="16675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4" name="Google Shape;594;p25"/>
          <p:cNvSpPr txBox="1"/>
          <p:nvPr/>
        </p:nvSpPr>
        <p:spPr>
          <a:xfrm>
            <a:off x="859536" y="4142232"/>
            <a:ext cx="6400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66752"/>
                </a:solidFill>
                <a:latin typeface="Arial"/>
                <a:ea typeface="Arial"/>
                <a:cs typeface="Arial"/>
                <a:sym typeface="Arial"/>
              </a:rPr>
              <a:t>ACID</a:t>
            </a:r>
            <a:endParaRPr/>
          </a:p>
        </p:txBody>
      </p:sp>
      <p:sp>
        <p:nvSpPr>
          <p:cNvPr id="595" name="Google Shape;595;p25"/>
          <p:cNvSpPr txBox="1"/>
          <p:nvPr/>
        </p:nvSpPr>
        <p:spPr>
          <a:xfrm>
            <a:off x="859536" y="4507992"/>
            <a:ext cx="4974336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41F2B"/>
                </a:solidFill>
                <a:latin typeface="Arial"/>
                <a:ea typeface="Arial"/>
                <a:cs typeface="Arial"/>
                <a:sym typeface="Arial"/>
              </a:rPr>
              <a:t>ACID Transactions</a:t>
            </a:r>
            <a:endParaRPr/>
          </a:p>
        </p:txBody>
      </p:sp>
      <p:sp>
        <p:nvSpPr>
          <p:cNvPr id="596" name="Google Shape;596;p25"/>
          <p:cNvSpPr txBox="1"/>
          <p:nvPr/>
        </p:nvSpPr>
        <p:spPr>
          <a:xfrm>
            <a:off x="859536" y="4910328"/>
            <a:ext cx="4974336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19" u="none" cap="none" strike="noStrike">
                <a:solidFill>
                  <a:srgbClr val="5B676F"/>
                </a:solidFill>
                <a:latin typeface="Arial"/>
                <a:ea typeface="Arial"/>
                <a:cs typeface="Arial"/>
                <a:sym typeface="Arial"/>
              </a:rPr>
              <a:t>START TRANSACTION, COMMIT, and ROLLBACK protect room allocation atomicity.</a:t>
            </a:r>
            <a:endParaRPr/>
          </a:p>
        </p:txBody>
      </p:sp>
      <p:sp>
        <p:nvSpPr>
          <p:cNvPr id="597" name="Google Shape;597;p25"/>
          <p:cNvSpPr/>
          <p:nvPr/>
        </p:nvSpPr>
        <p:spPr>
          <a:xfrm>
            <a:off x="6236208" y="3886200"/>
            <a:ext cx="5303520" cy="1874519"/>
          </a:xfrm>
          <a:prstGeom prst="roundRect">
            <a:avLst>
              <a:gd fmla="val 12000" name="adj"/>
            </a:avLst>
          </a:prstGeom>
          <a:solidFill>
            <a:srgbClr val="FFFFFF"/>
          </a:solidFill>
          <a:ln cap="flat" cmpd="sng" w="9525">
            <a:solidFill>
              <a:srgbClr val="E8ECE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8" name="Google Shape;598;p25"/>
          <p:cNvSpPr/>
          <p:nvPr/>
        </p:nvSpPr>
        <p:spPr>
          <a:xfrm>
            <a:off x="6236208" y="3886200"/>
            <a:ext cx="5303520" cy="73152"/>
          </a:xfrm>
          <a:prstGeom prst="rect">
            <a:avLst/>
          </a:prstGeom>
          <a:solidFill>
            <a:srgbClr val="CD9D48"/>
          </a:solidFill>
          <a:ln cap="flat" cmpd="sng" w="9525">
            <a:solidFill>
              <a:srgbClr val="CD9D4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9" name="Google Shape;599;p25"/>
          <p:cNvSpPr txBox="1"/>
          <p:nvPr/>
        </p:nvSpPr>
        <p:spPr>
          <a:xfrm>
            <a:off x="6455664" y="4142232"/>
            <a:ext cx="6400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CD9D48"/>
                </a:solidFill>
                <a:latin typeface="Arial"/>
                <a:ea typeface="Arial"/>
                <a:cs typeface="Arial"/>
                <a:sym typeface="Arial"/>
              </a:rPr>
              <a:t>INDEX</a:t>
            </a:r>
            <a:endParaRPr/>
          </a:p>
        </p:txBody>
      </p:sp>
      <p:sp>
        <p:nvSpPr>
          <p:cNvPr id="600" name="Google Shape;600;p25"/>
          <p:cNvSpPr txBox="1"/>
          <p:nvPr/>
        </p:nvSpPr>
        <p:spPr>
          <a:xfrm>
            <a:off x="6455664" y="4507992"/>
            <a:ext cx="4864608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41F2B"/>
                </a:solidFill>
                <a:latin typeface="Arial"/>
                <a:ea typeface="Arial"/>
                <a:cs typeface="Arial"/>
                <a:sym typeface="Arial"/>
              </a:rPr>
              <a:t>B-Tree Indexes</a:t>
            </a:r>
            <a:endParaRPr/>
          </a:p>
        </p:txBody>
      </p:sp>
      <p:sp>
        <p:nvSpPr>
          <p:cNvPr id="601" name="Google Shape;601;p25"/>
          <p:cNvSpPr txBox="1"/>
          <p:nvPr/>
        </p:nvSpPr>
        <p:spPr>
          <a:xfrm>
            <a:off x="6455664" y="4910328"/>
            <a:ext cx="4864608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19" u="none" cap="none" strike="noStrike">
                <a:solidFill>
                  <a:srgbClr val="5B676F"/>
                </a:solidFill>
                <a:latin typeface="Arial"/>
                <a:ea typeface="Arial"/>
                <a:cs typeface="Arial"/>
                <a:sym typeface="Arial"/>
              </a:rPr>
              <a:t>Created on idx_customer_email, idx_booking_dates, and idx_room_status for instant query lookups.</a:t>
            </a:r>
            <a:endParaRPr/>
          </a:p>
        </p:txBody>
      </p:sp>
      <p:sp>
        <p:nvSpPr>
          <p:cNvPr id="602" name="Google Shape;602;p25"/>
          <p:cNvSpPr txBox="1"/>
          <p:nvPr/>
        </p:nvSpPr>
        <p:spPr>
          <a:xfrm>
            <a:off x="594360" y="6510528"/>
            <a:ext cx="43891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5B676F"/>
                </a:solidFill>
                <a:latin typeface="Arial"/>
                <a:ea typeface="Arial"/>
                <a:cs typeface="Arial"/>
                <a:sym typeface="Arial"/>
              </a:rPr>
              <a:t>TEAM 15  •  HOTEL MANAGEMENT SYSTEM</a:t>
            </a:r>
            <a:endParaRPr/>
          </a:p>
        </p:txBody>
      </p:sp>
      <p:sp>
        <p:nvSpPr>
          <p:cNvPr id="603" name="Google Shape;603;p25"/>
          <p:cNvSpPr txBox="1"/>
          <p:nvPr/>
        </p:nvSpPr>
        <p:spPr>
          <a:xfrm>
            <a:off x="10835640" y="6492240"/>
            <a:ext cx="749808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5B676F"/>
                </a:solidFill>
                <a:latin typeface="Arial"/>
                <a:ea typeface="Arial"/>
                <a:cs typeface="Arial"/>
                <a:sym typeface="Arial"/>
              </a:rPr>
              <a:t>12 / 13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41F2B"/>
        </a:solidFill>
      </p:bgPr>
    </p:bg>
    <p:spTree>
      <p:nvGrpSpPr>
        <p:cNvPr id="607" name="Shape 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" name="Google Shape;608;p26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3846A"/>
          </a:solidFill>
          <a:ln cap="flat" cmpd="sng" w="9525">
            <a:solidFill>
              <a:srgbClr val="23846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9" name="Google Shape;609;p26"/>
          <p:cNvSpPr/>
          <p:nvPr/>
        </p:nvSpPr>
        <p:spPr>
          <a:xfrm>
            <a:off x="11475720" y="0"/>
            <a:ext cx="713232" cy="73152"/>
          </a:xfrm>
          <a:prstGeom prst="rect">
            <a:avLst/>
          </a:prstGeom>
          <a:solidFill>
            <a:srgbClr val="CD9D48"/>
          </a:solidFill>
          <a:ln cap="flat" cmpd="sng" w="9525">
            <a:solidFill>
              <a:srgbClr val="CD9D4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0" name="Google Shape;610;p26"/>
          <p:cNvSpPr txBox="1"/>
          <p:nvPr/>
        </p:nvSpPr>
        <p:spPr>
          <a:xfrm>
            <a:off x="594360" y="475488"/>
            <a:ext cx="89611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Business Reports &amp; Conclusion</a:t>
            </a:r>
            <a:endParaRPr/>
          </a:p>
        </p:txBody>
      </p:sp>
      <p:sp>
        <p:nvSpPr>
          <p:cNvPr id="611" name="Google Shape;611;p26"/>
          <p:cNvSpPr txBox="1"/>
          <p:nvPr/>
        </p:nvSpPr>
        <p:spPr>
          <a:xfrm>
            <a:off x="612648" y="1005840"/>
            <a:ext cx="104241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BCCAC6"/>
                </a:solidFill>
                <a:latin typeface="Arial"/>
                <a:ea typeface="Arial"/>
                <a:cs typeface="Arial"/>
                <a:sym typeface="Arial"/>
              </a:rPr>
              <a:t>Hotel Management System  •  Project Conclusion</a:t>
            </a:r>
            <a:endParaRPr/>
          </a:p>
        </p:txBody>
      </p:sp>
      <p:sp>
        <p:nvSpPr>
          <p:cNvPr id="612" name="Google Shape;612;p26"/>
          <p:cNvSpPr txBox="1"/>
          <p:nvPr/>
        </p:nvSpPr>
        <p:spPr>
          <a:xfrm>
            <a:off x="9738360" y="502920"/>
            <a:ext cx="1828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CD9D48"/>
                </a:solidFill>
                <a:latin typeface="Arial"/>
                <a:ea typeface="Arial"/>
                <a:cs typeface="Arial"/>
                <a:sym typeface="Arial"/>
              </a:rPr>
              <a:t>CONCLUSION</a:t>
            </a:r>
            <a:endParaRPr/>
          </a:p>
        </p:txBody>
      </p:sp>
      <p:sp>
        <p:nvSpPr>
          <p:cNvPr id="613" name="Google Shape;613;p26"/>
          <p:cNvSpPr/>
          <p:nvPr/>
        </p:nvSpPr>
        <p:spPr>
          <a:xfrm>
            <a:off x="640080" y="1627632"/>
            <a:ext cx="2578608" cy="1115568"/>
          </a:xfrm>
          <a:prstGeom prst="roundRect">
            <a:avLst>
              <a:gd fmla="val 12000" name="adj"/>
            </a:avLst>
          </a:prstGeom>
          <a:solidFill>
            <a:srgbClr val="1C2B35"/>
          </a:solidFill>
          <a:ln cap="flat" cmpd="sng" w="9525">
            <a:solidFill>
              <a:srgbClr val="37485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4" name="Google Shape;614;p26"/>
          <p:cNvSpPr txBox="1"/>
          <p:nvPr/>
        </p:nvSpPr>
        <p:spPr>
          <a:xfrm>
            <a:off x="822959" y="1828800"/>
            <a:ext cx="10515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00" u="none" cap="none" strike="noStrike">
                <a:solidFill>
                  <a:srgbClr val="CD9D48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/>
          </a:p>
        </p:txBody>
      </p:sp>
      <p:sp>
        <p:nvSpPr>
          <p:cNvPr id="615" name="Google Shape;615;p26"/>
          <p:cNvSpPr txBox="1"/>
          <p:nvPr/>
        </p:nvSpPr>
        <p:spPr>
          <a:xfrm>
            <a:off x="1691639" y="1874519"/>
            <a:ext cx="1261872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Normalized 3NF Tables</a:t>
            </a:r>
            <a:endParaRPr/>
          </a:p>
        </p:txBody>
      </p:sp>
      <p:sp>
        <p:nvSpPr>
          <p:cNvPr id="616" name="Google Shape;616;p26"/>
          <p:cNvSpPr/>
          <p:nvPr/>
        </p:nvSpPr>
        <p:spPr>
          <a:xfrm>
            <a:off x="3429000" y="1627632"/>
            <a:ext cx="2578608" cy="1115568"/>
          </a:xfrm>
          <a:prstGeom prst="roundRect">
            <a:avLst>
              <a:gd fmla="val 12000" name="adj"/>
            </a:avLst>
          </a:prstGeom>
          <a:solidFill>
            <a:srgbClr val="1C2B35"/>
          </a:solidFill>
          <a:ln cap="flat" cmpd="sng" w="9525">
            <a:solidFill>
              <a:srgbClr val="37485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7" name="Google Shape;617;p26"/>
          <p:cNvSpPr txBox="1"/>
          <p:nvPr/>
        </p:nvSpPr>
        <p:spPr>
          <a:xfrm>
            <a:off x="3611880" y="1828800"/>
            <a:ext cx="10515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00" u="none" cap="none" strike="noStrike">
                <a:solidFill>
                  <a:srgbClr val="CD9D48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</p:txBody>
      </p:sp>
      <p:sp>
        <p:nvSpPr>
          <p:cNvPr id="618" name="Google Shape;618;p26"/>
          <p:cNvSpPr txBox="1"/>
          <p:nvPr/>
        </p:nvSpPr>
        <p:spPr>
          <a:xfrm>
            <a:off x="4480560" y="1874519"/>
            <a:ext cx="1261872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Active SQL Triggers</a:t>
            </a:r>
            <a:endParaRPr/>
          </a:p>
        </p:txBody>
      </p:sp>
      <p:sp>
        <p:nvSpPr>
          <p:cNvPr id="619" name="Google Shape;619;p26"/>
          <p:cNvSpPr/>
          <p:nvPr/>
        </p:nvSpPr>
        <p:spPr>
          <a:xfrm>
            <a:off x="6217920" y="1627632"/>
            <a:ext cx="2578608" cy="1115568"/>
          </a:xfrm>
          <a:prstGeom prst="roundRect">
            <a:avLst>
              <a:gd fmla="val 12000" name="adj"/>
            </a:avLst>
          </a:prstGeom>
          <a:solidFill>
            <a:srgbClr val="1C2B35"/>
          </a:solidFill>
          <a:ln cap="flat" cmpd="sng" w="9525">
            <a:solidFill>
              <a:srgbClr val="37485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0" name="Google Shape;620;p26"/>
          <p:cNvSpPr txBox="1"/>
          <p:nvPr/>
        </p:nvSpPr>
        <p:spPr>
          <a:xfrm>
            <a:off x="6400800" y="1828800"/>
            <a:ext cx="10515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00" u="none" cap="none" strike="noStrike">
                <a:solidFill>
                  <a:srgbClr val="CD9D48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/>
          </a:p>
        </p:txBody>
      </p:sp>
      <p:sp>
        <p:nvSpPr>
          <p:cNvPr id="621" name="Google Shape;621;p26"/>
          <p:cNvSpPr txBox="1"/>
          <p:nvPr/>
        </p:nvSpPr>
        <p:spPr>
          <a:xfrm>
            <a:off x="7269479" y="1874519"/>
            <a:ext cx="1261872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High-Speed Indexes</a:t>
            </a:r>
            <a:endParaRPr/>
          </a:p>
        </p:txBody>
      </p:sp>
      <p:sp>
        <p:nvSpPr>
          <p:cNvPr id="622" name="Google Shape;622;p26"/>
          <p:cNvSpPr/>
          <p:nvPr/>
        </p:nvSpPr>
        <p:spPr>
          <a:xfrm>
            <a:off x="9006840" y="1627632"/>
            <a:ext cx="2578608" cy="1115568"/>
          </a:xfrm>
          <a:prstGeom prst="roundRect">
            <a:avLst>
              <a:gd fmla="val 12000" name="adj"/>
            </a:avLst>
          </a:prstGeom>
          <a:solidFill>
            <a:srgbClr val="1C2B35"/>
          </a:solidFill>
          <a:ln cap="flat" cmpd="sng" w="9525">
            <a:solidFill>
              <a:srgbClr val="37485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3" name="Google Shape;623;p26"/>
          <p:cNvSpPr txBox="1"/>
          <p:nvPr/>
        </p:nvSpPr>
        <p:spPr>
          <a:xfrm>
            <a:off x="9189719" y="1828800"/>
            <a:ext cx="10515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00" u="none" cap="none" strike="noStrike">
                <a:solidFill>
                  <a:srgbClr val="CD9D48"/>
                </a:solidFill>
                <a:latin typeface="Arial"/>
                <a:ea typeface="Arial"/>
                <a:cs typeface="Arial"/>
                <a:sym typeface="Arial"/>
              </a:rPr>
              <a:t>100%</a:t>
            </a:r>
            <a:endParaRPr/>
          </a:p>
        </p:txBody>
      </p:sp>
      <p:sp>
        <p:nvSpPr>
          <p:cNvPr id="624" name="Google Shape;624;p26"/>
          <p:cNvSpPr txBox="1"/>
          <p:nvPr/>
        </p:nvSpPr>
        <p:spPr>
          <a:xfrm>
            <a:off x="10058400" y="1874519"/>
            <a:ext cx="1261872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ACID Transactional Safety</a:t>
            </a:r>
            <a:endParaRPr/>
          </a:p>
        </p:txBody>
      </p:sp>
      <p:sp>
        <p:nvSpPr>
          <p:cNvPr id="625" name="Google Shape;625;p26"/>
          <p:cNvSpPr txBox="1"/>
          <p:nvPr/>
        </p:nvSpPr>
        <p:spPr>
          <a:xfrm>
            <a:off x="658368" y="315468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CD9D48"/>
                </a:solidFill>
                <a:latin typeface="Arial"/>
                <a:ea typeface="Arial"/>
                <a:cs typeface="Arial"/>
                <a:sym typeface="Arial"/>
              </a:rPr>
              <a:t>KEY OPERATIONAL REPORTS</a:t>
            </a:r>
            <a:endParaRPr/>
          </a:p>
        </p:txBody>
      </p:sp>
      <p:sp>
        <p:nvSpPr>
          <p:cNvPr id="626" name="Google Shape;626;p26"/>
          <p:cNvSpPr/>
          <p:nvPr/>
        </p:nvSpPr>
        <p:spPr>
          <a:xfrm>
            <a:off x="640080" y="3584448"/>
            <a:ext cx="5486400" cy="658368"/>
          </a:xfrm>
          <a:prstGeom prst="roundRect">
            <a:avLst>
              <a:gd fmla="val 12000" name="adj"/>
            </a:avLst>
          </a:prstGeom>
          <a:solidFill>
            <a:srgbClr val="1C2B35"/>
          </a:solidFill>
          <a:ln cap="flat" cmpd="sng" w="9525">
            <a:solidFill>
              <a:srgbClr val="37485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7" name="Google Shape;627;p26"/>
          <p:cNvSpPr txBox="1"/>
          <p:nvPr/>
        </p:nvSpPr>
        <p:spPr>
          <a:xfrm>
            <a:off x="868680" y="3694176"/>
            <a:ext cx="2148840" cy="210312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Revenue by Payment Mode</a:t>
            </a:r>
            <a:endParaRPr/>
          </a:p>
        </p:txBody>
      </p:sp>
      <p:sp>
        <p:nvSpPr>
          <p:cNvPr id="628" name="Google Shape;628;p26"/>
          <p:cNvSpPr txBox="1"/>
          <p:nvPr/>
        </p:nvSpPr>
        <p:spPr>
          <a:xfrm>
            <a:off x="3090672" y="3685032"/>
            <a:ext cx="2761488" cy="393192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60" u="none" cap="none" strike="noStrike">
                <a:solidFill>
                  <a:srgbClr val="C7D4D1"/>
                </a:solidFill>
                <a:latin typeface="Arial"/>
                <a:ea typeface="Arial"/>
                <a:cs typeface="Arial"/>
                <a:sym typeface="Arial"/>
              </a:rPr>
              <a:t>Totals collected via UPI, Razorpay cards, and net banking.</a:t>
            </a:r>
            <a:endParaRPr/>
          </a:p>
        </p:txBody>
      </p:sp>
      <p:sp>
        <p:nvSpPr>
          <p:cNvPr id="629" name="Google Shape;629;p26"/>
          <p:cNvSpPr/>
          <p:nvPr/>
        </p:nvSpPr>
        <p:spPr>
          <a:xfrm>
            <a:off x="640080" y="4361688"/>
            <a:ext cx="5486400" cy="658368"/>
          </a:xfrm>
          <a:prstGeom prst="roundRect">
            <a:avLst>
              <a:gd fmla="val 12000" name="adj"/>
            </a:avLst>
          </a:prstGeom>
          <a:solidFill>
            <a:srgbClr val="1C2B35"/>
          </a:solidFill>
          <a:ln cap="flat" cmpd="sng" w="9525">
            <a:solidFill>
              <a:srgbClr val="37485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0" name="Google Shape;630;p26"/>
          <p:cNvSpPr txBox="1"/>
          <p:nvPr/>
        </p:nvSpPr>
        <p:spPr>
          <a:xfrm>
            <a:off x="868680" y="4471416"/>
            <a:ext cx="2148840" cy="210312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Room Category Occupancy</a:t>
            </a:r>
            <a:endParaRPr/>
          </a:p>
        </p:txBody>
      </p:sp>
      <p:sp>
        <p:nvSpPr>
          <p:cNvPr id="631" name="Google Shape;631;p26"/>
          <p:cNvSpPr txBox="1"/>
          <p:nvPr/>
        </p:nvSpPr>
        <p:spPr>
          <a:xfrm>
            <a:off x="3090672" y="4462272"/>
            <a:ext cx="2761488" cy="393192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60" u="none" cap="none" strike="noStrike">
                <a:solidFill>
                  <a:srgbClr val="C7D4D1"/>
                </a:solidFill>
                <a:latin typeface="Arial"/>
                <a:ea typeface="Arial"/>
                <a:cs typeface="Arial"/>
                <a:sym typeface="Arial"/>
              </a:rPr>
              <a:t>Total bookings and earnings grouped across Suite, Deluxe, Double, Single.</a:t>
            </a:r>
            <a:endParaRPr/>
          </a:p>
        </p:txBody>
      </p:sp>
      <p:sp>
        <p:nvSpPr>
          <p:cNvPr id="632" name="Google Shape;632;p26"/>
          <p:cNvSpPr/>
          <p:nvPr/>
        </p:nvSpPr>
        <p:spPr>
          <a:xfrm>
            <a:off x="640080" y="5138927"/>
            <a:ext cx="5486400" cy="658368"/>
          </a:xfrm>
          <a:prstGeom prst="roundRect">
            <a:avLst>
              <a:gd fmla="val 12000" name="adj"/>
            </a:avLst>
          </a:prstGeom>
          <a:solidFill>
            <a:srgbClr val="1C2B35"/>
          </a:solidFill>
          <a:ln cap="flat" cmpd="sng" w="9525">
            <a:solidFill>
              <a:srgbClr val="37485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3" name="Google Shape;633;p26"/>
          <p:cNvSpPr txBox="1"/>
          <p:nvPr/>
        </p:nvSpPr>
        <p:spPr>
          <a:xfrm>
            <a:off x="868680" y="5248655"/>
            <a:ext cx="2148840" cy="210312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Current In-House Guests</a:t>
            </a:r>
            <a:endParaRPr/>
          </a:p>
        </p:txBody>
      </p:sp>
      <p:sp>
        <p:nvSpPr>
          <p:cNvPr id="634" name="Google Shape;634;p26"/>
          <p:cNvSpPr txBox="1"/>
          <p:nvPr/>
        </p:nvSpPr>
        <p:spPr>
          <a:xfrm>
            <a:off x="3090672" y="5239512"/>
            <a:ext cx="2761488" cy="393192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60" u="none" cap="none" strike="noStrike">
                <a:solidFill>
                  <a:srgbClr val="C7D4D1"/>
                </a:solidFill>
                <a:latin typeface="Arial"/>
                <a:ea typeface="Arial"/>
                <a:cs typeface="Arial"/>
                <a:sym typeface="Arial"/>
              </a:rPr>
              <a:t>Filtered via check_in_out.Status = 'Checked-In' for real-time headcount.</a:t>
            </a:r>
            <a:endParaRPr/>
          </a:p>
        </p:txBody>
      </p:sp>
      <p:sp>
        <p:nvSpPr>
          <p:cNvPr id="635" name="Google Shape;635;p26"/>
          <p:cNvSpPr/>
          <p:nvPr/>
        </p:nvSpPr>
        <p:spPr>
          <a:xfrm>
            <a:off x="6537960" y="3154680"/>
            <a:ext cx="5047488" cy="2606040"/>
          </a:xfrm>
          <a:prstGeom prst="roundRect">
            <a:avLst>
              <a:gd fmla="val 12000" name="adj"/>
            </a:avLst>
          </a:prstGeom>
          <a:solidFill>
            <a:srgbClr val="166752"/>
          </a:solidFill>
          <a:ln cap="flat" cmpd="sng" w="9525">
            <a:solidFill>
              <a:srgbClr val="16675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6" name="Google Shape;636;p26"/>
          <p:cNvSpPr txBox="1"/>
          <p:nvPr/>
        </p:nvSpPr>
        <p:spPr>
          <a:xfrm>
            <a:off x="6839712" y="3493008"/>
            <a:ext cx="4389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QUESTIONS &amp; DISCUSSION</a:t>
            </a:r>
            <a:endParaRPr/>
          </a:p>
        </p:txBody>
      </p:sp>
      <p:sp>
        <p:nvSpPr>
          <p:cNvPr id="637" name="Google Shape;637;p26"/>
          <p:cNvSpPr txBox="1"/>
          <p:nvPr/>
        </p:nvSpPr>
        <p:spPr>
          <a:xfrm>
            <a:off x="6839712" y="4160520"/>
            <a:ext cx="4160520" cy="932688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E7EEEB"/>
                </a:solidFill>
                <a:latin typeface="Arial"/>
                <a:ea typeface="Arial"/>
                <a:cs typeface="Arial"/>
                <a:sym typeface="Arial"/>
              </a:rPr>
              <a:t>“A well-designed relational database structure removes operational redundancy and ensures 100% data integrity for hotel management.”</a:t>
            </a:r>
            <a:endParaRPr/>
          </a:p>
        </p:txBody>
      </p:sp>
      <p:sp>
        <p:nvSpPr>
          <p:cNvPr id="638" name="Google Shape;638;p26"/>
          <p:cNvSpPr/>
          <p:nvPr/>
        </p:nvSpPr>
        <p:spPr>
          <a:xfrm>
            <a:off x="6839712" y="5330952"/>
            <a:ext cx="1143000" cy="54864"/>
          </a:xfrm>
          <a:prstGeom prst="rect">
            <a:avLst/>
          </a:prstGeom>
          <a:solidFill>
            <a:srgbClr val="CD9D48"/>
          </a:solidFill>
          <a:ln cap="flat" cmpd="sng" w="9525">
            <a:solidFill>
              <a:srgbClr val="CD9D4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9" name="Google Shape;639;p26"/>
          <p:cNvSpPr txBox="1"/>
          <p:nvPr/>
        </p:nvSpPr>
        <p:spPr>
          <a:xfrm>
            <a:off x="6839712" y="5513832"/>
            <a:ext cx="1828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CD9D48"/>
                </a:solidFill>
                <a:latin typeface="Arial"/>
                <a:ea typeface="Arial"/>
                <a:cs typeface="Arial"/>
                <a:sym typeface="Arial"/>
              </a:rPr>
              <a:t>Thank you</a:t>
            </a:r>
            <a:endParaRPr/>
          </a:p>
        </p:txBody>
      </p:sp>
      <p:sp>
        <p:nvSpPr>
          <p:cNvPr id="640" name="Google Shape;640;p26"/>
          <p:cNvSpPr txBox="1"/>
          <p:nvPr/>
        </p:nvSpPr>
        <p:spPr>
          <a:xfrm>
            <a:off x="594360" y="6510528"/>
            <a:ext cx="43891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BAC6C4"/>
                </a:solidFill>
                <a:latin typeface="Arial"/>
                <a:ea typeface="Arial"/>
                <a:cs typeface="Arial"/>
                <a:sym typeface="Arial"/>
              </a:rPr>
              <a:t>TEAM 15  •  HOTEL MANAGEMENT SYSTEM</a:t>
            </a:r>
            <a:endParaRPr/>
          </a:p>
        </p:txBody>
      </p:sp>
      <p:sp>
        <p:nvSpPr>
          <p:cNvPr id="641" name="Google Shape;641;p26"/>
          <p:cNvSpPr txBox="1"/>
          <p:nvPr/>
        </p:nvSpPr>
        <p:spPr>
          <a:xfrm>
            <a:off x="10835640" y="6492240"/>
            <a:ext cx="749808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BAC6C4"/>
                </a:solidFill>
                <a:latin typeface="Arial"/>
                <a:ea typeface="Arial"/>
                <a:cs typeface="Arial"/>
                <a:sym typeface="Arial"/>
              </a:rPr>
              <a:t>13 / 13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